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8f68f7c-ca1e-5cca-4cef-c1a2d916d693}">
          <p14:sldIdLst>
            <p14:sldId id="256"/>
          </p14:sldIdLst>
        </p14:section>
        <p14:section name="Problem and gap" id="{a118412a-d2a8-3094-f8aa-8cac65076aea}">
          <p14:sldIdLst>
            <p14:sldId id="257"/>
            <p14:sldId id="258"/>
          </p14:sldIdLst>
        </p14:section>
        <p14:section name="Plan" id="{614ceca6-7e2d-c711-6d37-8293f0558824}">
          <p14:sldIdLst>
            <p14:sldId id="259"/>
          </p14:sldIdLst>
        </p14:section>
        <p14:section name="Architecture" id="{94130cb5-2917-fbcf-bd19-dee9529fe5f5}">
          <p14:sldIdLst>
            <p14:sldId id="260"/>
            <p14:sldId id="261"/>
          </p14:sldIdLst>
        </p14:section>
        <p14:section name="Data" id="{551167ad-9426-0327-4974-a23d2397fda1}">
          <p14:sldIdLst>
            <p14:sldId id="262"/>
          </p14:sldIdLst>
        </p14:section>
        <p14:section name="Implementation" id="{f97d46ab-30c7-b2f4-3ce3-358569d3748d}">
          <p14:sldIdLst>
            <p14:sldId id="263"/>
          </p14:sldIdLst>
        </p14:section>
        <p14:section name="Results" id="{83bbef86-5d45-9e4c-28de-e23861f85efe}">
          <p14:sldIdLst>
            <p14:sldId id="264"/>
            <p14:sldId id="265"/>
            <p14:sldId id="266"/>
            <p14:sldId id="267"/>
          </p14:sldIdLst>
        </p14:section>
        <p14:section name="Cloud" id="{02a1aa1e-0083-1f39-0ebc-cfb7ba58f1ba}">
          <p14:sldIdLst>
            <p14:sldId id="268"/>
          </p14:sldIdLst>
        </p14:section>
        <p14:section name="Close" id="{30a5988a-90a8-fcc6-3f86-93bdbc5d9ee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Exact option-set recovery, held-out split (n = 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Exact option set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Popularity</c:v>
                  </c:pt>
                  <c:pt idx="1">
                    <c:v>Per-archetype</c:v>
                  </c:pt>
                  <c:pt idx="2">
                    <c:v>Model, true intent</c:v>
                  </c:pt>
                  <c:pt idx="3">
                    <c:v>Model, reconstructed intent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0.2083</c:v>
                </c:pt>
                <c:pt idx="2">
                  <c:v>0.9583</c:v>
                </c:pt>
                <c:pt idx="3">
                  <c:v>0.9583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B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B3A"/>
                </a:solidFill>
                <a:latin typeface="+mn-lt"/>
              </a:rPr>
              <a:t>Per-field accuracy on the held-out split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F7A6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archetype</c:v>
                  </c:pt>
                  <c:pt idx="1">
                    <c:v>az spread</c:v>
                  </c:pt>
                  <c:pt idx="2">
                    <c:v>iam shape</c:v>
                  </c:pt>
                  <c:pt idx="3">
                    <c:v>logging</c:v>
                  </c:pt>
                  <c:pt idx="4">
                    <c:v>network layout</c:v>
                  </c:pt>
                  <c:pt idx="5">
                    <c:v>scale</c:v>
                  </c:pt>
                  <c:pt idx="6">
                    <c:v>tagging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0.4166666666666667</c:v>
                </c:pt>
                <c:pt idx="3">
                  <c:v>1</c:v>
                </c:pt>
                <c:pt idx="4">
                  <c:v>1</c:v>
                </c:pt>
                <c:pt idx="5">
                  <c:v>0.8333333333333334</c:v>
                </c:pt>
                <c:pt idx="6">
                  <c:v>0.875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recommend and review AWS configurations against regulatory controls, and justify every finding as a traceable path. This review is about implementation progress since Phase-I; every number on the following slides comes from a committed results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1 and FD-05 section 5. The right-hand chain is the injected DF-7 'indirect internet reachability' pattern used throughout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docs/Literature_Survey.md synthesis, docs/Research_Gap_Udit.md and the two companion gap documents. Each member presents their own five papers.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docs/Objectives.md. 'Runs today' means code plus a committed result, on the synthetic corpus. O1 is a draft written by Claude and must be reviewed by Udit before it counts (FD-07 section 2: a model may read L1, never author 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architecture/AWS_Architecture.png, generated by architecture/make_diagrams.py. Say first that this is the planning diagram; slide 13 gives the planned-versus-running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architecture/System_Architecture.png and FD-01. The plan, confirm and apply steps (S6 to S10) need live accounts and are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dataset/dataset_description.md and results/advisor_report.json (DF-7 count over the full injected corpus). Say 'synthetic'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src/backend/kgcr/orchestration/review.py and cli.py. Rule floor only means the advisor ran its deterministic rules; relational and resilience findings need the Gemini path, which has not run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results/recommender_report.json. Options are (resource type, attribute, value) with identity attributes excluded. This measures recovery of the generator's mapping, not real-world recommendation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results/p4_df7_checkov_evidence.json (graph versus Checkov) and results/advisor_report.json (rule floor). DF-1 to DF-4 recall is 1.0 by construction because the injectors produce exactly what the rules check; it is a sanity floor, not a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results/reconstruction_report.json; INV-2 is tests/explainer/test_explainer.py, which extracts claims back out of the rendered text. Cost deltas in explanations are stated as not modelled.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command: kgcr review --variant unencrypted_database --audience auditor. Output trimmed for the slide; run it live if time allows (about 15 seconds). PCI-DSS v4.0 3.5.1 covers stored PAN; 3.4 is display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docs/Project_Report.md section 8, the 21-service planning table. Nothing has been deployed and no AWS money has been spent. The pipeline talks to storage and notification only through two small interfaces, so AWS-backed versions slot in without changing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honest split. Code in this repository is authored by Udit with Claude's assistance; Manya and Tanmoy own their literature and research-gap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KGCR, BCSE355L Review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Knowledge-graph cloud configuration review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Review 2: what runs today, and what does not yet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BCSE355L Cloud Architecture Design Project, Dr. Priya V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Udit (lead), Manya, Tanmoy   |   github.com/uditdaftary/KGCR_Cloud_Project_2026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Per-resource checks miss defects in the connections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Posture tools see only what is already deployed.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Policy-as-code checks one resource at a time.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Cost tools are blind to compliance.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Nothing reasons over the estate as a graph tied to the controls it must meet.</a:t>
            </a:r>
            <a:endParaRPr lang="en-US" sz="1500" dirty="0"/>
          </a:p>
        </p:txBody>
      </p:sp>
      <p:sp>
        <p:nvSpPr>
          <p:cNvPr id="4" name="node-0"/>
          <p:cNvSpPr txBox="1"/>
          <p:nvPr/>
        </p:nvSpPr>
        <p:spPr>
          <a:xfrm>
            <a:off x="6949440" y="1371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Internet gateway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509760" y="1508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2057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7" name="node-1"/>
          <p:cNvSpPr txBox="1"/>
          <p:nvPr/>
        </p:nvSpPr>
        <p:spPr>
          <a:xfrm>
            <a:off x="6949440" y="2514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subnet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50976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138160" y="3200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node-2"/>
          <p:cNvSpPr txBox="1"/>
          <p:nvPr/>
        </p:nvSpPr>
        <p:spPr>
          <a:xfrm>
            <a:off x="6949440" y="3657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 host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509760" y="3794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4343400"/>
            <a:ext cx="0" cy="45720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3" name="node-3"/>
          <p:cNvSpPr txBox="1"/>
          <p:nvPr/>
        </p:nvSpPr>
        <p:spPr>
          <a:xfrm>
            <a:off x="6949440" y="4800600"/>
            <a:ext cx="2377440" cy="6858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Cardholder DB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0" y="4937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passes a per-resource scan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572000"/>
            <a:ext cx="56692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Every hop is individually compliant; the path from the internet to cardholder data is the defect (DF-7).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Fifteen papers agree on what is missing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papers, 2023 to 2026, IEEE, Springer, Elsevier, ACM and MDPI; each record checked against Crossref</a:t>
            </a:r>
            <a:endParaRPr lang="en-US" sz="1300" dirty="0"/>
          </a:p>
        </p:txBody>
      </p:sp>
      <p:sp>
        <p:nvSpPr>
          <p:cNvPr id="5" name="finding-0"/>
          <p:cNvSpPr/>
          <p:nvPr/>
        </p:nvSpPr>
        <p:spPr>
          <a:xfrm>
            <a:off x="429768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reasoned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Configuration security is scored after the fact rather than reasoned about before deployment.</a:t>
            </a:r>
            <a:endParaRPr lang="en-US" sz="1400" dirty="0"/>
          </a:p>
        </p:txBody>
      </p:sp>
      <p:sp>
        <p:nvSpPr>
          <p:cNvPr id="8" name="finding-1"/>
          <p:cNvSpPr/>
          <p:nvPr/>
        </p:nvSpPr>
        <p:spPr>
          <a:xfrm>
            <a:off x="8092440" y="137160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753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Graphs used reactively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75320" y="205740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Graphs appear in incident analysis, not in design or review.</a:t>
            </a:r>
            <a:endParaRPr lang="en-US" sz="1400" dirty="0"/>
          </a:p>
        </p:txBody>
      </p:sp>
      <p:sp>
        <p:nvSpPr>
          <p:cNvPr id="11" name="finding-2"/>
          <p:cNvSpPr/>
          <p:nvPr/>
        </p:nvSpPr>
        <p:spPr>
          <a:xfrm>
            <a:off x="429768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separate graphs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Compliance knowledge and configuration knowledge are never joined.</a:t>
            </a:r>
            <a:endParaRPr lang="en-US" sz="1400" dirty="0"/>
          </a:p>
        </p:txBody>
      </p:sp>
      <p:sp>
        <p:nvSpPr>
          <p:cNvPr id="14" name="finding-3"/>
          <p:cNvSpPr/>
          <p:nvPr/>
        </p:nvSpPr>
        <p:spPr>
          <a:xfrm>
            <a:off x="8092440" y="3703320"/>
            <a:ext cx="3566160" cy="2057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 is an input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4389120"/>
            <a:ext cx="3200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system takes intent as given; none recovers it from an estate.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objectives, each with a measure and a status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325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Encode controls as a queryable graph (L1)</a:t>
            </a:r>
            <a:endParaRPr lang="en-US" sz="1600" dirty="0"/>
          </a:p>
        </p:txBody>
      </p:sp>
      <p:sp>
        <p:nvSpPr>
          <p:cNvPr id="5" name="chip-draft"/>
          <p:cNvSpPr txBox="1"/>
          <p:nvPr/>
        </p:nvSpPr>
        <p:spPr>
          <a:xfrm>
            <a:off x="6492240" y="145389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Draft, in review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1325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6 controls drafted, awaiting human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3055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13055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Detect multi-hop defects per-resource engines miss</a:t>
            </a:r>
            <a:endParaRPr lang="en-US" sz="1600" dirty="0"/>
          </a:p>
        </p:txBody>
      </p:sp>
      <p:sp>
        <p:nvSpPr>
          <p:cNvPr id="9" name="chip-runs"/>
          <p:cNvSpPr txBox="1"/>
          <p:nvPr/>
        </p:nvSpPr>
        <p:spPr>
          <a:xfrm>
            <a:off x="6492240" y="2258568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503920" y="213055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graph 12/12, Checkov blind on 12/12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35224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293522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Recommend a compliant configuration from intent</a:t>
            </a:r>
            <a:endParaRPr lang="en-US" sz="1600" dirty="0"/>
          </a:p>
        </p:txBody>
      </p:sp>
      <p:sp>
        <p:nvSpPr>
          <p:cNvPr id="13" name="chip-runs"/>
          <p:cNvSpPr txBox="1"/>
          <p:nvPr/>
        </p:nvSpPr>
        <p:spPr>
          <a:xfrm>
            <a:off x="6492240" y="30632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0" y="293522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ranker plus CRITICAL mask; cost not modelled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73989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7398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Reconstruct intent with calibrated confidence</a:t>
            </a:r>
            <a:endParaRPr lang="en-US" sz="1600" dirty="0"/>
          </a:p>
        </p:txBody>
      </p:sp>
      <p:sp>
        <p:nvSpPr>
          <p:cNvPr id="17" name="chip-runs"/>
          <p:cNvSpPr txBox="1"/>
          <p:nvPr/>
        </p:nvSpPr>
        <p:spPr>
          <a:xfrm>
            <a:off x="6492240" y="3867912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73989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per-field accuracy and ECE reported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54456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O5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45445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Explanations as exact reasoning paths</a:t>
            </a:r>
            <a:endParaRPr lang="en-US" sz="1600" dirty="0"/>
          </a:p>
        </p:txBody>
      </p:sp>
      <p:sp>
        <p:nvSpPr>
          <p:cNvPr id="21" name="chip-runs"/>
          <p:cNvSpPr txBox="1"/>
          <p:nvPr/>
        </p:nvSpPr>
        <p:spPr>
          <a:xfrm>
            <a:off x="6492240" y="4672584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503920" y="45445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template explainer, INV-2 test passes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3492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O6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5349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Governed multi-account AWS with cost controls</a:t>
            </a:r>
            <a:endParaRPr lang="en-US" sz="1600" dirty="0"/>
          </a:p>
        </p:txBody>
      </p:sp>
      <p:sp>
        <p:nvSpPr>
          <p:cNvPr id="25" name="chip-authored"/>
          <p:cNvSpPr txBox="1"/>
          <p:nvPr/>
        </p:nvSpPr>
        <p:spPr>
          <a:xfrm>
            <a:off x="6492240" y="5477256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503920" y="53492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Terraform written, not applied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1: AWS cloud architecture (planned)</a:t>
            </a:r>
            <a:endParaRPr lang="en-US" sz="3000" dirty="0"/>
          </a:p>
        </p:txBody>
      </p:sp>
      <p:pic>
        <p:nvPicPr>
          <p:cNvPr id="3" name="aws-diagram" descr="C:\Projects\KGCR_Cloud_Project_2026\architecture\AWS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138160" cy="5102352"/>
          </a:xfrm>
          <a:prstGeom prst="rect">
            <a:avLst/>
          </a:prstGeom>
        </p:spPr>
      </p:pic>
      <p:sp>
        <p:nvSpPr>
          <p:cNvPr id="4" name="chip-planned"/>
          <p:cNvSpPr txBox="1"/>
          <p:nvPr/>
        </p:nvSpPr>
        <p:spPr>
          <a:xfrm>
            <a:off x="9052560" y="1371600"/>
            <a:ext cx="15544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9052560" y="1920240"/>
            <a:ext cx="2651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Three accounts, evidence from Config, CloudTrail and cost reports into S3, ETL into the graph store.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separates read-only harvest from write-only apply.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Today: IAM, Budgets, the run bucket and topic exist as Terraform, unapplied; harvest is a local stand-in.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 2: complete system flow</a:t>
            </a:r>
            <a:endParaRPr lang="en-US" sz="3000" dirty="0"/>
          </a:p>
        </p:txBody>
      </p:sp>
      <p:pic>
        <p:nvPicPr>
          <p:cNvPr id="3" name="system-diagram" descr="C:\Projects\KGCR_Cloud_Project_2026\architecture\System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068312" cy="51023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46720" y="1463040"/>
            <a:ext cx="3657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Two entry conditions: design from a stated intent, or review an existing estate.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 loop is bounded at three passes and never passes a CRITICAL finding silently.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Review mode (S1b to S6 here) runs locally today as one command; harvest is a stand-in.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dataset is synthetic, and generated intent-first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estates, one seed family each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2,331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AWS resources, 1,615 dependency edges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intent axes carried as ground truth by every estate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778240" y="14630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8778240" y="2286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(DF-7) defect estates from the injector</a:t>
            </a:r>
            <a:endParaRPr lang="en-US" sz="1300" dirty="0"/>
          </a:p>
        </p:txBody>
      </p:sp>
      <p:sp>
        <p:nvSpPr>
          <p:cNvPr id="11" name="dataset-note"/>
          <p:cNvSpPr/>
          <p:nvPr/>
        </p:nvSpPr>
        <p:spPr>
          <a:xfrm>
            <a:off x="548640" y="3749040"/>
            <a:ext cx="11064240" cy="18288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931920"/>
            <a:ext cx="10607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Generated, not downloaded: intent is sampled first, then a clean estate is rendered from it, so each estate carries the intent it was built for.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Defects DF-1 to DF-7 are injected into clean estates; the split is estate-level, by seed family, with a leakage guard.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real financial-sector estate is used. Results describe this generator, not production estates.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command runs review mode end to end</a:t>
            </a:r>
            <a:endParaRPr lang="en-US" sz="3000" dirty="0"/>
          </a:p>
        </p:txBody>
      </p:sp>
      <p:sp>
        <p:nvSpPr>
          <p:cNvPr id="3" name="step-0"/>
          <p:cNvSpPr/>
          <p:nvPr/>
        </p:nvSpPr>
        <p:spPr>
          <a:xfrm>
            <a:off x="5486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Harvest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held-out estate from the corpus</a:t>
            </a:r>
            <a:endParaRPr lang="en-US" sz="1300" dirty="0"/>
          </a:p>
        </p:txBody>
      </p:sp>
      <p:sp>
        <p:nvSpPr>
          <p:cNvPr id="6" name="chip-stand"/>
          <p:cNvSpPr txBox="1"/>
          <p:nvPr/>
        </p:nvSpPr>
        <p:spPr>
          <a:xfrm>
            <a:off x="6583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7" name="step-1"/>
          <p:cNvSpPr/>
          <p:nvPr/>
        </p:nvSpPr>
        <p:spPr>
          <a:xfrm>
            <a:off x="242316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53288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dependency graph, 3-hop paths</a:t>
            </a:r>
            <a:endParaRPr lang="en-US" sz="1300" dirty="0"/>
          </a:p>
        </p:txBody>
      </p:sp>
      <p:sp>
        <p:nvSpPr>
          <p:cNvPr id="10" name="chip-runs"/>
          <p:cNvSpPr txBox="1"/>
          <p:nvPr/>
        </p:nvSpPr>
        <p:spPr>
          <a:xfrm>
            <a:off x="253288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1" name="step-2"/>
          <p:cNvSpPr/>
          <p:nvPr/>
        </p:nvSpPr>
        <p:spPr>
          <a:xfrm>
            <a:off x="429768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0740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0740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P8: per-field value and confidence</a:t>
            </a:r>
            <a:endParaRPr lang="en-US" sz="1300" dirty="0"/>
          </a:p>
        </p:txBody>
      </p:sp>
      <p:sp>
        <p:nvSpPr>
          <p:cNvPr id="14" name="chip-runs"/>
          <p:cNvSpPr txBox="1"/>
          <p:nvPr/>
        </p:nvSpPr>
        <p:spPr>
          <a:xfrm>
            <a:off x="440740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5" name="step-3"/>
          <p:cNvSpPr/>
          <p:nvPr/>
        </p:nvSpPr>
        <p:spPr>
          <a:xfrm>
            <a:off x="617220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8192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8192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P7: ranked options, CRITICAL mask</a:t>
            </a:r>
            <a:endParaRPr lang="en-US" sz="1300" dirty="0"/>
          </a:p>
        </p:txBody>
      </p:sp>
      <p:sp>
        <p:nvSpPr>
          <p:cNvPr id="18" name="chip-runs"/>
          <p:cNvSpPr txBox="1"/>
          <p:nvPr/>
        </p:nvSpPr>
        <p:spPr>
          <a:xfrm>
            <a:off x="628192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19" name="step-4"/>
          <p:cNvSpPr/>
          <p:nvPr/>
        </p:nvSpPr>
        <p:spPr>
          <a:xfrm>
            <a:off x="804672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5644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5644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P6: grounded findings, bounded loop</a:t>
            </a:r>
            <a:endParaRPr lang="en-US" sz="1300" dirty="0"/>
          </a:p>
        </p:txBody>
      </p:sp>
      <p:sp>
        <p:nvSpPr>
          <p:cNvPr id="22" name="chip-rules"/>
          <p:cNvSpPr txBox="1"/>
          <p:nvPr/>
        </p:nvSpPr>
        <p:spPr>
          <a:xfrm>
            <a:off x="815644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Rule floor only</a:t>
            </a:r>
            <a:endParaRPr lang="en-US" sz="1100" dirty="0"/>
          </a:p>
        </p:txBody>
      </p:sp>
      <p:sp>
        <p:nvSpPr>
          <p:cNvPr id="23" name="step-5"/>
          <p:cNvSpPr/>
          <p:nvPr/>
        </p:nvSpPr>
        <p:spPr>
          <a:xfrm>
            <a:off x="9921240" y="1463040"/>
            <a:ext cx="1691640" cy="23774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30968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0030968" y="21031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P9: three audiences, counterfactuals</a:t>
            </a:r>
            <a:endParaRPr lang="en-US" sz="1300" dirty="0"/>
          </a:p>
        </p:txBody>
      </p:sp>
      <p:sp>
        <p:nvSpPr>
          <p:cNvPr id="26" name="chip-runs"/>
          <p:cNvSpPr txBox="1"/>
          <p:nvPr/>
        </p:nvSpPr>
        <p:spPr>
          <a:xfrm>
            <a:off x="10030968" y="3337560"/>
            <a:ext cx="1463040" cy="292608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Runs today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206240"/>
            <a:ext cx="11064240" cy="5029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kgcr review --variant unencrypted_database --audience auditor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Writes the run record, the explanation bundle, the patched spec and three renderings to the artifact store.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155 tests; ruff, ruff format, mypy (strict) and pytest all pass with PYTHONHASHSEED=0.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advisor's LLM path is built and tested offline; its live run waits on an API key.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Recommender: right option set for 23 of 24 estates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R-precision: popularity 0.858, per-archetype 0.940, model 1.000.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a GNN: the generator is a function of intent, so a random forest already saturates and a GNN has no headroom to show.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CRITICAL mask removed the one illegal option in the pool (aws_db_instance storage_encrypted False), even when forced to rank first.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Advisor: rules catch properties, the graph catches paths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relational paths recovered by the graph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4630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2286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where Checkov's sink verdict matches the clean parent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4630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recall, DF-1 to DF-4 (holds by construction)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1463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0.000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0" y="22860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rule-floor recall on DF-7 (n = 302)</a:t>
            </a:r>
            <a:endParaRPr lang="en-US" sz="1300" dirty="0"/>
          </a:p>
        </p:txBody>
      </p:sp>
      <p:sp>
        <p:nvSpPr>
          <p:cNvPr id="11" name="gate-card"/>
          <p:cNvSpPr/>
          <p:nvPr/>
        </p:nvSpPr>
        <p:spPr>
          <a:xfrm>
            <a:off x="548640" y="3566160"/>
            <a:ext cx="11064240" cy="21031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notrun"/>
          <p:cNvSpPr txBox="1"/>
          <p:nvPr/>
        </p:nvSpPr>
        <p:spPr>
          <a:xfrm>
            <a:off x="777240" y="3749040"/>
            <a:ext cx="182880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Not run yet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72160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Sycophancy gate (the roadmap's hard gate)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20624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non-compliant spec, three passes, rising pressure to withdraw findings. Pass requires 100% of the model's own findings to persist.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Enforcement is tested offline: a scripted model that caves fails the gate, while carry-forward keeps the system's findings.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live result needs a Gemini API key; it has not run, and no result is claimed.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Intent reconstruction is honest about what it cannot see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89520" y="14630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iam shape: accuracy 0.417 with ECE 0.282. The generator leaves no structural trace, and the model is confidently wrong.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Low-confidence fields are escalated to the user, never silently assumed.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Explainer: every finding carries its exact path, control and tested counterfactual. The three audience renderings yield identical claim sets (INV-2) for every defect variant.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Demo: a cardholder database without encryption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[1/6] harvest   estate fd6f7a9427c6ffa4, held-out split, 17 resources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injected for the demo: unencrypted_database (DF-2)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[3/6] intent    archetype=payments_api ... (iam_shape: confirm with user)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[4/6] recommend recommended, not in estate: storage_encrypted=True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[5/6] advise    loop CONVERGED (CLEAN) after 2 pass(es)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[CRITICAL] kg://control/pci-dss-v4/3.5.1 on aws_db_instance.cardholder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[6/6] explain   fix tested: align with compliant template -&gt; RESOLVED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110642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recommender and the advisor reach the same conclusion independently, from different inputs.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patcher repairs the spec and the second pass is clean, so the loop converges.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DF-7 run converges with no findings under the rule floor, and says so in its scope note.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AWS services: planned versus running</a:t>
            </a:r>
            <a:endParaRPr lang="en-US" sz="3000" dirty="0"/>
          </a:p>
        </p:txBody>
      </p:sp>
      <p:sp>
        <p:nvSpPr>
          <p:cNvPr id="3" name="aws-col-0"/>
          <p:cNvSpPr/>
          <p:nvPr/>
        </p:nvSpPr>
        <p:spPr>
          <a:xfrm>
            <a:off x="54864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hip-stand"/>
          <p:cNvSpPr txBox="1"/>
          <p:nvPr/>
        </p:nvSpPr>
        <p:spPr>
          <a:xfrm>
            <a:off x="73152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Local stand-in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locally today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 run bucket: local directory by default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SNS: logged notification by default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Config harvest: synthetic corpus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SageMaker: local scikit-learn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Bedrock: Gemini Flash (free tier), fixture replay</a:t>
            </a:r>
            <a:endParaRPr lang="en-US" sz="1400" dirty="0"/>
          </a:p>
        </p:txBody>
      </p:sp>
      <p:sp>
        <p:nvSpPr>
          <p:cNvPr id="7" name="aws-col-1"/>
          <p:cNvSpPr/>
          <p:nvPr/>
        </p:nvSpPr>
        <p:spPr>
          <a:xfrm>
            <a:off x="429768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chip-authored"/>
          <p:cNvSpPr txBox="1"/>
          <p:nvPr/>
        </p:nvSpPr>
        <p:spPr>
          <a:xfrm>
            <a:off x="448056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Terraform authored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Written, not applied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Cross-account IAM roles (harvest and apply)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AWS Budgets alarms at 5, 15 and 30 USD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S3 run bucket and SNS topic, adapters tested on mocked AWS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Least-privilege publish policy</a:t>
            </a:r>
            <a:endParaRPr lang="en-US" sz="1400" dirty="0"/>
          </a:p>
        </p:txBody>
      </p:sp>
      <p:sp>
        <p:nvSpPr>
          <p:cNvPr id="11" name="aws-col-2"/>
          <p:cNvSpPr/>
          <p:nvPr/>
        </p:nvSpPr>
        <p:spPr>
          <a:xfrm>
            <a:off x="8046720" y="1371600"/>
            <a:ext cx="3520440" cy="4754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hip-planned"/>
          <p:cNvSpPr txBox="1"/>
          <p:nvPr/>
        </p:nvSpPr>
        <p:spPr>
          <a:xfrm>
            <a:off x="8229600" y="1554480"/>
            <a:ext cx="2011680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Planned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196596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for Phase-II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606040"/>
            <a:ext cx="31546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EC2 and Neo4j graph store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Lambda and Glue ETL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API Gateway and Cognito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CloudTrail, CloudWatch, EventBridge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KMS, VPC topology, Organizations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Limits, and what comes next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Limits: synthetic corpus; draft L1 awaiting review; LLM gate not run; no cost model.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Next: run the sycophancy gate live, review and verify L1, validate and apply the Terraform in a sandbox.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Then: gold set (P2), live AWS harvest, and the human study.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GCR Review">
  <a:themeElements>
    <a:clrScheme name="KGCR Review">
      <a:dk1>
        <a:srgbClr val="1B2A2F"/>
      </a:dk1>
      <a:lt1>
        <a:srgbClr val="FFFFFF"/>
      </a:lt1>
      <a:dk2>
        <a:srgbClr val="123B3A"/>
      </a:dk2>
      <a:lt2>
        <a:srgbClr val="EEF3F2"/>
      </a:lt2>
      <a:accent1>
        <a:srgbClr val="1F7A6D"/>
      </a:accent1>
      <a:accent2>
        <a:srgbClr val="C9772A"/>
      </a:accent2>
      <a:accent3>
        <a:srgbClr val="5B6B70"/>
      </a:accent3>
      <a:accent4>
        <a:srgbClr val="B23A48"/>
      </a:accent4>
      <a:accent5>
        <a:srgbClr val="7FB8AE"/>
      </a:accent5>
      <a:accent6>
        <a:srgbClr val="C9D6D3"/>
      </a:accent6>
      <a:hlink>
        <a:srgbClr val="1F7A6D"/>
      </a:hlink>
      <a:folHlink>
        <a:srgbClr val="5B6B70"/>
      </a:folHlink>
    </a:clrScheme>
    <a:fontScheme name="KGCR Review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KGCR Review 2</dc:title>
  <dc:subject>PptxGenJS Presentation</dc:subject>
  <dc:creator>Udit Daftary</dc:creator>
  <cp:lastModifiedBy>Udit Daftary</cp:lastModifiedBy>
  <cp:revision>1</cp:revision>
  <dcterms:created xsi:type="dcterms:W3CDTF">2026-10-05T09:19:52Z</dcterms:created>
  <dcterms:modified xsi:type="dcterms:W3CDTF">2026-10-05T09:19:52Z</dcterms:modified>
</cp:coreProperties>
</file>