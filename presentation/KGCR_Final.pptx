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7ba55b6-eb4c-f63c-4068-2b4129dd0f8a}">
          <p14:sldIdLst>
            <p14:sldId id="256"/>
          </p14:sldIdLst>
        </p14:section>
        <p14:section name="Problem and gap" id="{4040d48b-e9c2-8d2a-33e3-42135979c5a8}">
          <p14:sldIdLst>
            <p14:sldId id="257"/>
            <p14:sldId id="258"/>
          </p14:sldIdLst>
        </p14:section>
        <p14:section name="Plan" id="{329f663e-51c8-ba91-5aa8-f7230a94ebaf}">
          <p14:sldIdLst>
            <p14:sldId id="259"/>
          </p14:sldIdLst>
        </p14:section>
        <p14:section name="What we built" id="{aa40e9a7-4306-52db-81a0-662fb02edac0}">
          <p14:sldIdLst>
            <p14:sldId id="260"/>
          </p14:sldIdLst>
        </p14:section>
        <p14:section name="Architecture" id="{6b23c79b-10da-2122-c13f-24bb9b8837a7}">
          <p14:sldIdLst>
            <p14:sldId id="261"/>
            <p14:sldId id="262"/>
            <p14:sldId id="263"/>
          </p14:sldIdLst>
        </p14:section>
        <p14:section name="Data" id="{c0cb15e4-948a-a644-df67-24eb4d8e83af}">
          <p14:sldIdLst>
            <p14:sldId id="264"/>
          </p14:sldIdLst>
        </p14:section>
        <p14:section name="Implementation" id="{8045e40e-c4ac-1619-e5b5-bc8ddd4cec1f}">
          <p14:sldIdLst>
            <p14:sldId id="265"/>
          </p14:sldIdLst>
        </p14:section>
        <p14:section name="Results" id="{0003b5a1-4c73-037b-93dd-6bfef9948a51}">
          <p14:sldIdLst>
            <p14:sldId id="266"/>
            <p14:sldId id="267"/>
            <p14:sldId id="268"/>
            <p14:sldId id="269"/>
            <p14:sldId id="270"/>
            <p14:sldId id="271"/>
            <p14:sldId id="272"/>
          </p14:sldIdLst>
        </p14:section>
        <p14:section name="Terminal" id="{8e2d346e-04c7-5493-cb5f-f27eeed2fe5a}">
          <p14:sldIdLst>
            <p14:sldId id="273"/>
            <p14:sldId id="274"/>
            <p14:sldId id="275"/>
            <p14:sldId id="276"/>
            <p14:sldId id="277"/>
            <p14:sldId id="278"/>
            <p14:sldId id="279"/>
            <p14:sldId id="280"/>
            <p14:sldId id="281"/>
            <p14:sldId id="282"/>
            <p14:sldId id="283"/>
            <p14:sldId id="284"/>
            <p14:sldId id="285"/>
            <p14:sldId id="286"/>
            <p14:sldId id="287"/>
            <p14:sldId id="288"/>
            <p14:sldId id="289"/>
          </p14:sldIdLst>
        </p14:section>
        <p14:section name="Dashboard" id="{5e317652-dfc7-516a-936a-f4dafeeaaaf4}">
          <p14:sldIdLst>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Lst>
        </p14:section>
        <p14:section name="Demo" id="{5c4a968d-ec2b-bd6e-2082-3ec7a32f8520}">
          <p14:sldIdLst>
            <p14:sldId id="311"/>
          </p14:sldIdLst>
        </p14:section>
        <p14:section name="Close" id="{c4072edf-76f0-a920-f5ad-d39eda7ec531}">
          <p14:sldIdLst>
            <p14:sldId id="31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3B3A"/>
                </a:solidFill>
                <a:latin typeface="+mn-lt"/>
              </a:defRPr>
            </a:pPr>
            <a:r>
              <a:rPr sz="1400" b="0" i="0" u="none" strike="noStrike">
                <a:solidFill>
                  <a:srgbClr val="123B3A"/>
                </a:solidFill>
                <a:latin typeface="+mn-lt"/>
              </a:rPr>
              <a:t>Exact option-set recovery, held-out split (n = 24)</a:t>
            </a:r>
          </a:p>
        </c:rich>
      </c:tx>
      <c:layout/>
      <c:overlay val="0"/>
    </c:title>
    <c:autoTitleDeleted val="0"/>
    <c:plotArea>
      <c:layout/>
      <c:barChart>
        <c:barDir val="bar"/>
        <c:grouping val="clustered"/>
        <c:varyColors val="0"/>
        <c:ser>
          <c:idx val="0"/>
          <c:order val="0"/>
          <c:tx>
            <c:strRef>
              <c:f>Sheet1!$B$1</c:f>
              <c:strCache>
                <c:ptCount val="1"/>
                <c:pt idx="0">
                  <c:v>Exact option set</c:v>
                </c:pt>
              </c:strCache>
            </c:strRef>
          </c:tx>
          <c:spPr>
            <a:solidFill>
              <a:srgbClr val="1F7A6D"/>
            </a:solidFill>
            <a:effectLst/>
          </c:spPr>
          <c:invertIfNegative val="0"/>
          <c:dLbls>
            <c:numFmt formatCode="0.000" sourceLinked="0"/>
            <c:txPr>
              <a:bodyPr/>
              <a:lstStyle/>
              <a:p>
                <a:pPr>
                  <a:defRPr b="0" i="0" strike="noStrike" sz="1200" u="none">
                    <a:solidFill>
                      <a:srgbClr val="1B2A2F"/>
                    </a:solidFill>
                    <a:latin typeface="+mn-lt"/>
                  </a:defRPr>
                </a:pPr>
              </a:p>
            </c:txPr>
            <c:showLegendKey val="0"/>
            <c:showVal val="1"/>
            <c:showCatName val="0"/>
            <c:showSerName val="0"/>
            <c:showPercent val="0"/>
            <c:showBubbleSize val="0"/>
            <c:showLeaderLines val="0"/>
          </c:dLbls>
          <c:cat>
            <c:multiLvlStrRef>
              <c:f>Sheet1!$A$2:$A$5</c:f>
              <c:multiLvlStrCache>
                <c:ptCount val="4"/>
                <c:lvl>
                  <c:pt idx="0">
                    <c:v>Popularity</c:v>
                  </c:pt>
                  <c:pt idx="1">
                    <c:v>Per-archetype</c:v>
                  </c:pt>
                  <c:pt idx="2">
                    <c:v>Model, true intent</c:v>
                  </c:pt>
                  <c:pt idx="3">
                    <c:v>Model, reconstructed intent</c:v>
                  </c:pt>
                </c:lvl>
              </c:multiLvlStrCache>
            </c:multiLvlStrRef>
          </c:cat>
          <c:val>
            <c:numRef>
              <c:f>Sheet1!$B$2:$B$5</c:f>
              <c:numCache>
                <c:formatCode>General</c:formatCode>
                <c:ptCount val="4"/>
                <c:pt idx="0">
                  <c:v>0</c:v>
                </c:pt>
                <c:pt idx="1">
                  <c:v>0.2083</c:v>
                </c:pt>
                <c:pt idx="2">
                  <c:v>0.9583</c:v>
                </c:pt>
                <c:pt idx="3">
                  <c:v>0.9583</c:v>
                </c:pt>
              </c:numCache>
            </c:numRef>
          </c:val>
        </c:ser>
        <c:dLbls>
          <c:numFmt formatCode="0.000" sourceLinked="0"/>
          <c:txPr>
            <a:bodyPr/>
            <a:lstStyle/>
            <a:p>
              <a:pPr>
                <a:defRPr b="0" i="0" strike="noStrike" sz="1200" u="none">
                  <a:solidFill>
                    <a:srgbClr val="1B2A2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2F"/>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3B3A"/>
                </a:solidFill>
                <a:latin typeface="+mn-lt"/>
              </a:defRPr>
            </a:pPr>
            <a:r>
              <a:rPr sz="1400" b="0" i="0" u="none" strike="noStrike">
                <a:solidFill>
                  <a:srgbClr val="123B3A"/>
                </a:solidFill>
                <a:latin typeface="+mn-lt"/>
              </a:rPr>
              <a:t>Per-field accuracy on the held-out split</a:t>
            </a:r>
          </a:p>
        </c:rich>
      </c:tx>
      <c:layout/>
      <c:overlay val="0"/>
    </c:title>
    <c:autoTitleDeleted val="0"/>
    <c:plotArea>
      <c:layout/>
      <c:barChart>
        <c:barDir val="bar"/>
        <c:grouping val="clustered"/>
        <c:varyColors val="0"/>
        <c:ser>
          <c:idx val="0"/>
          <c:order val="0"/>
          <c:tx>
            <c:strRef>
              <c:f>Sheet1!$B$1</c:f>
              <c:strCache>
                <c:ptCount val="1"/>
                <c:pt idx="0">
                  <c:v>Accuracy</c:v>
                </c:pt>
              </c:strCache>
            </c:strRef>
          </c:tx>
          <c:spPr>
            <a:solidFill>
              <a:srgbClr val="1F7A6D"/>
            </a:solidFill>
            <a:effectLst/>
          </c:spPr>
          <c:invertIfNegative val="0"/>
          <c:dLbls>
            <c:numFmt formatCode="0.000" sourceLinked="0"/>
            <c:txPr>
              <a:bodyPr/>
              <a:lstStyle/>
              <a:p>
                <a:pPr>
                  <a:defRPr b="0" i="0" strike="noStrike" sz="1200" u="none">
                    <a:solidFill>
                      <a:srgbClr val="1B2A2F"/>
                    </a:solidFill>
                    <a:latin typeface="+mn-lt"/>
                  </a:defRPr>
                </a:pPr>
              </a:p>
            </c:txPr>
            <c:showLegendKey val="0"/>
            <c:showVal val="1"/>
            <c:showCatName val="0"/>
            <c:showSerName val="0"/>
            <c:showPercent val="0"/>
            <c:showBubbleSize val="0"/>
            <c:showLeaderLines val="0"/>
          </c:dLbls>
          <c:cat>
            <c:multiLvlStrRef>
              <c:f>Sheet1!$A$2:$A$8</c:f>
              <c:multiLvlStrCache>
                <c:ptCount val="7"/>
                <c:lvl>
                  <c:pt idx="0">
                    <c:v>archetype</c:v>
                  </c:pt>
                  <c:pt idx="1">
                    <c:v>az spread</c:v>
                  </c:pt>
                  <c:pt idx="2">
                    <c:v>iam shape</c:v>
                  </c:pt>
                  <c:pt idx="3">
                    <c:v>logging</c:v>
                  </c:pt>
                  <c:pt idx="4">
                    <c:v>network layout</c:v>
                  </c:pt>
                  <c:pt idx="5">
                    <c:v>scale</c:v>
                  </c:pt>
                  <c:pt idx="6">
                    <c:v>tagging</c:v>
                  </c:pt>
                </c:lvl>
              </c:multiLvlStrCache>
            </c:multiLvlStrRef>
          </c:cat>
          <c:val>
            <c:numRef>
              <c:f>Sheet1!$B$2:$B$8</c:f>
              <c:numCache>
                <c:formatCode>General</c:formatCode>
                <c:ptCount val="7"/>
                <c:pt idx="0">
                  <c:v>1</c:v>
                </c:pt>
                <c:pt idx="1">
                  <c:v>1</c:v>
                </c:pt>
                <c:pt idx="2">
                  <c:v>0.4166666666666667</c:v>
                </c:pt>
                <c:pt idx="3">
                  <c:v>1</c:v>
                </c:pt>
                <c:pt idx="4">
                  <c:v>1</c:v>
                </c:pt>
                <c:pt idx="5">
                  <c:v>0.8333333333333334</c:v>
                </c:pt>
                <c:pt idx="6">
                  <c:v>0.875</c:v>
                </c:pt>
              </c:numCache>
            </c:numRef>
          </c:val>
        </c:ser>
        <c:dLbls>
          <c:numFmt formatCode="0.000" sourceLinked="0"/>
          <c:txPr>
            <a:bodyPr/>
            <a:lstStyle/>
            <a:p>
              <a:pPr>
                <a:defRPr b="0" i="0" strike="noStrike" sz="1200" u="none">
                  <a:solidFill>
                    <a:srgbClr val="1B2A2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2F"/>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we built a system that reviews and designs AWS configurations over a knowledge graph and justifies every finding as a traceable path. Every number on the results slides is read from a committed results file. Code in this repository is Udit's, written with Claude's assistance; Manya and Tanmoy own their literature and research-gap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docs/Project_Report.md section 1 and FD-05 section 5. The right-hand chain is the injected DF-7 'indirect internet reachability' pattern used throughout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docs/Literature_Survey.md synthesis, docs/Research_Gap_Udit.md and the two companion gap documents. Each member presents their own five papers. docs/Citation_Verification_Report.md records the Crossref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docs/Objectives.md. 'Runs today' means code plus a committed result, on the synthetic corpus. O1 controls are drafts written by Claude and not yet verified by Udit (FD-07 section 2: a model may read L1, never author it). O6 Terraform is authored and validated offline; nothing has been applied to a real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CHANGELOG.md LOOP_STATE (474 passed, 82 source files, ruff and mypy clean); git log (134 commits before this deck); git ls-files line counts (about 12,930 lines of Python under src, 2,406 lines of dashboard JavaScript and CSS); docs/FD-01 to FD-08; docs/Literature_Survey.md. Python 3.14 on the build machine; CI-parity in a fresh 3.12 venv was 457 passed, 4 skipped for absent optional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architecture/AWS_Architecture.png, generated by architecture/make_diagrams.py. Say first that this is the planning diagram. The AWS services slide gives the planned-versus-running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architecture/System_Architecture.png and FD-01. Plan and apply run locally; the real-AWS apply and the live AWS Config harvest are built and tested against fakes only, and have not touched an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docs/Project_Report.md section 8, the 21-service planning table; CHANGELOG.md section 0b for the Terraform validation. Nothing has been deployed and no AWS money has been spent. The pipeline talks to storage and notification only through two small interfaces, so AWS-backed versions slot in without changing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dataset/dataset_description.md and results/corpus_d_report.json (CloudGoat 740 resources, TerraGoat 63; licences BSD-3-Clause and Apache-2.0 read from the repositories). Say 'synthetic' before anyone asks. Results describe this generator, not production estates.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src/backend/kgcr/orchestration/review.py and cli.py. Rule floor only means the advisor ran its deterministic rules; relational and resilience findings need the Gemini path, which ran live and is recorded in results/llm_fixtures. Harvest is a local stand-in for AWS Config.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results/p4_df7_checkov_evidence.json and results/advisor_report.json. 'Engine blind' means Checkov's verdict on the sink matches the clean parent estate. DF-1 to DF-4 recall is 1.0 by construction because the injectors produce exactly what the rules check; it is a sanity floor, not a benchmark. Counterfactual shown in the dashboard run sleeve for the transitive trust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results/recommender_report.json and results/gnn_ablation.json. Options are (resource type, attribute, value) with identity attributes excluded. This measures recovery of the generator's mapping, not real-world recommendation quality: the generator is a function of intent, so a random forest saturates and a GNN has no headroom to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results/advisor_report.json. Say the caveats out loud if asked: 3 valid trials of 4 (the rest invalid, with no admitted model finding on pass 1). Beyond the rule floor the model found 2 of 4 variants and raised 1 false CRITICAL on 4 clean estates. The stats are small samples; the gate is a hard gate, not a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results/reconstruction_report.json. The generator leaves no structural trace of iam shape, and the model is confidently wrong there; the escalation threshold is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results/explainer_report.json (FD-06 sections 9.1 and 9.2). The samples are small and every figure carries its n; the human study (9.3) needs ethics approval and participants and has not run. Counterfactuals for relational findings are not checked by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results/corpus_d_report.json, results/labeller_agreement.json, CHANGELOG.md section 0b. Caveats if asked: in independent repositories our rule floor's families cover 31 of the 787 Checkov failures in CloudGoat (4%) and 5 of 215 in TerraGoat (2%); the repositories carry no per-resource labels, so this is agreement, not accuracy. Checkov and Trivy do not treat a world-open port 443 as a defect. A valid Terraform plan does not mean an apply would succeed.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CHANGELOG.md LOOP_STATE and section 0b; docs/Runbook.md; tests/. CI runs the gates on 3.11 and 3.12; the pull request checks are the record of that. Python 3.11 and the CI workflow itself were not run on the latest local commits.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 python -m kgcr.cli --help. Expected: usage line plus nine subcommands with one-line help (about 20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 python -m kgcr.cli repro-info. Expected: about 14 lines of seed report and tool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 python -m kgcr.cli review --variant unencrypted_database --audience auditor --out runs-local/demo. Expected: six stages, a CRITICAL PCI-DSS 3.5.1 finding, loop CONVERGED after 2 passes, about 18 s. See CLI_RUNBOOK.md for the PowerShell stderr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 python -m kgcr.cli review --variant transitive_trust_chain --out runs-local/demo. Expected: LLM ok (replayed), CRITICAL on df7_trust_a, b and c, loop CONTESTED (OSCILLATING), a notification stand-in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 python -m kgcr.cli review --variant no_database_backup --out runs-local/demo. Expected: LLM ok, MEDIUM on aws_db_instance.cardholder, CONVERGED (CLEAN) after 1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 python -m kgcr.cli review --variant privilege_escalation_passrole --out runs-local/demo. Expected: LLM ok (replayed), CRITICAL kg://control/pci-dss-v4/7.2 on aws_iam_role.df7_exec with the indirect path via aws_iam_role.priv to aws_db_instance.cardholder, MEDIUM multi-az on the database, loop CONTESTED (OSCILLATING) after 1 pass, and a notification stand-in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 python -m kgcr.cli history --out runs-local/demo. Expected: four rows, one per review run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 python -m kgcr.cli explain --run 9d9d36ac --audience learner --out runs-local/demo. Expected: the learner rendering of the DF-7 run, about 20 to 25 lines, with the path and the counterfactual.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 python -m kgcr.cli design --archetype payments_api --region eu-west-1 --az-spread two_az --network-layout public_private --logging full --iam-shape least_privilege --tagging strict --scale small --out runs-local/demo. Expected: five stages, a 15-resource estate, CONVERGED (CLEAN), and a 'Why these choices' list. Crop the stored-file lines if the shot is too 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 python -m kgcr.cli design --statement "&lt;recorded sentence&gt;" --extract-only --out runs-local/demo. Expected: JSON for eight axes, each with a value and quoted evidence; replays a recorded model response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 python -m kgcr.cli plan --spec f0344245 --out runs-local/demo. Expected: plan id 5102888a2d4cbe21, create 15 modify 0 destroy 0, 15 resource lines, cost delta +50.41 USD a month, and the 'not in the figure'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 python -m kgcr.cli plan --spec f0344245 --backend terraform --out runs-local/demo. Expected: 'terraform 1.16.5 validated and planned offline: 16 creates' plus 'added to make it valid' and 'may still fail to apply' lines. Takes one to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 python -m kgcr.cli apply --plan 5102888a2d4cbe21 --out runs-local/demo. Expected: 'applied (local, simulated)' and fifteen 'done create'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frames. Top: python -m kgcr.cli apply --plan 5102888a2d4cbe21 --out runs-local/demo (second run), expected 'refused: plan ... was already applied', exit 1. Bottom: python -m kgcr.cli apply --plan 5102888a2d4cbe21 --backend terraform --out runs-local/demo, expected 'refused: real applies are switched off (KGCR_APPLY_ENABLED is not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frames. Top: ruff check, ruff format --check and mypy, three short outputs (run as three commands). Bottom: PYTHONHASHSEED=0 pytest -q, only the last lines: '474 passed' with the elapsed time (about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 python -m kgcr.cli corpus --count 180. Expected: about ten lines: estates, unique ids, seed families, total resources, graph nodes and edges, and the archetype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 python -m kgcr.cli dashboard --port 8765 --out runs-local. Expected: one line, 'KGCR dashboard on http://127.0.0.1:8765  (replay mode; Ctrl+C to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cover. The plotted run is the newest one with a multi-hop evidence path. Footer states: synthetic corpus, replay mode, nothing deployed to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KG 010 New review, with the PassRole privilege escalation selected. Nine variants. Five replay a complete recorded Gemini review (DF-1, DF-2, DF-5 and two DF-7 variants). wildcard_iam_policy has pass 1 only, so the header counts 6 of 9 but that one replays as LLM: partial. The other three run the rule floor only until their model responses are recorded (the daily free-tier quota was spent on 2026-10-14).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KG 101 Run sleeve for the transitive trust chain run. The loop status is Contested, Oscillating, which is the honest state for a defect the single-resource engines cannot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sleeve, second screen: findings with the PCI-DSS 7.2 control (draft text), the counterfactual 'Resolved, no path remains within 3 hops', the measured pipeline and the intent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sleeve, third screen: the architect rendering and the pinned claims panel (C4 holds when all three audiences yield the same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KG 012 History. Includes runs started from the CLI, because the CLI and dashboard share one artifact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KG 013 New design. Replayed a recorded model response, 8 of 8 axes grounded in the text. An unrecorded statement in replay mode returns all-null, never a model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KG 014 Plan and apply, top of the page. Nothing here changes anything; planning reads the stored spec.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page, second screen: the immutable plan 5102888a2d4cbe21 with its diff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page, third screen: cost from AWS list prices (every value re-derived from freshly downloaded official files) and the apply record. The apply is a local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KG 020 Gates and reports. Reads the committed results files; the dashboard cannot overwrite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Gates page, second screen. The reconstruction table shows iam shape at 0.417 with ECE 0.282, which is why low-confidence axes are escalated.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KG 021 Jobs. The launch forms mirror the CLI flags.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KG 022 Sessions. SQLite in runs-local/dashboard.sqlite3.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KG 023 Model fixtures: results/llm_fixtures. The free tier allows about 20 requests a day, so replay is what makes the demo and the tests deterministic.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KG 024 Controls review. The six L1 controls are drafts written by Claude and awaiting human verification; the page says so in its banner.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KG 025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KG 026 Cloud and spend. Live calls and cloud targets are off by default. No AWS credentials exist on the build machine, so the real-account paths have never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KG 027 Commands. The same six not-done items as CHANGELOG.md: live harvest, real-AWS apply, recorded reviews for four variants, the human study, instructor sign-off and the weak-supervision label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KG 028 Project files: the Phase-I deliverables from the mandated repository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KG 029 Gold set. Kept for evaluation only: none of it is in the synthetic corpus and none is ever trained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Suggested run: open the dashboard (python -m kgcr.cli dashboard --open), continue as user, pick Transitive trust chain, run the review, open the run sleeve and lift the finding. Then a design from a sentence, a plan, and a simulated apply. Everything replays recorded model responses, so it does not depend on a network or a quota.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forward. If asked about limits: the corpus is synthetic; the six L1 controls are drafts awaiting human verification; no AWS account has been touched; the human study needs ethics approval; the weak-supervision label model is not built; the live model gate passed on 3 valid trials with caveats on slide 13's notes. Manya and Tanmoy own their literature and research-gap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731520" y="3657600"/>
            <a:ext cx="10698480" cy="182880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46520"/>
            <a:ext cx="5486400" cy="274320"/>
          </a:xfrm>
          <a:prstGeom prst="rect">
            <a:avLst/>
          </a:prstGeom>
          <a:noFill/>
          <a:ln/>
        </p:spPr>
        <p:txBody>
          <a:bodyPr wrap="square" rtlCol="0" anchor="ctr"/>
          <a:lstStyle/>
          <a:p>
            <a:pPr indent="0" marL="0">
              <a:buNone/>
            </a:pPr>
            <a:r>
              <a:rPr lang="en-US" sz="1000" dirty="0">
                <a:solidFill>
                  <a:schemeClr val="accent3"/>
                </a:solidFill>
              </a:rPr>
              <a:t>KGCR, BCSE355L final review</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hot">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3" name="Text 0"/>
          <p:cNvSpPr/>
          <p:nvPr/>
        </p:nvSpPr>
        <p:spPr>
          <a:xfrm>
            <a:off x="548640" y="6446520"/>
            <a:ext cx="5486400" cy="274320"/>
          </a:xfrm>
          <a:prstGeom prst="rect">
            <a:avLst/>
          </a:prstGeom>
          <a:noFill/>
          <a:ln/>
        </p:spPr>
        <p:txBody>
          <a:bodyPr wrap="square" rtlCol="0" anchor="ctr"/>
          <a:lstStyle/>
          <a:p>
            <a:pPr indent="0" marL="0">
              <a:buNone/>
            </a:pPr>
            <a:r>
              <a:rPr lang="en-US" sz="1000" dirty="0">
                <a:solidFill>
                  <a:schemeClr val="accent5"/>
                </a:solidFill>
              </a:rPr>
              <a:t>KGCR, BCSE355L final review</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4.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4.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4.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4.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4.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4.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4.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4.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4.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4.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4.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4.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4.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4.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4.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nchor="b"/>
          <a:lstStyle/>
          <a:p>
            <a:pPr indent="0" marL="0">
              <a:buNone/>
            </a:pPr>
            <a:r>
              <a:rPr lang="en-US" sz="4000" b="1" dirty="0">
                <a:solidFill>
                  <a:schemeClr val="bg1"/>
                </a:solidFill>
              </a:rPr>
              <a:t>KGCR: the cloud reviewer that sees what scanners cannot</a:t>
            </a:r>
            <a:endParaRPr lang="en-US" sz="4000" dirty="0"/>
          </a:p>
        </p:txBody>
      </p:sp>
      <p:sp>
        <p:nvSpPr>
          <p:cNvPr id="3" name="Text 0"/>
          <p:cNvSpPr/>
          <p:nvPr>
            <p:ph idx="101" type="body" hasCustomPrompt="1"/>
          </p:nvPr>
        </p:nvSpPr>
        <p:spPr>
          <a:xfrm>
            <a:off x="731520" y="3657600"/>
            <a:ext cx="10698480" cy="1828800"/>
          </a:xfrm>
          <a:prstGeom prst="rect">
            <a:avLst/>
          </a:prstGeom>
          <a:noFill/>
          <a:ln/>
        </p:spPr>
        <p:txBody>
          <a:bodyPr wrap="square" rtlCol="0" anchor="t"/>
          <a:lstStyle/>
          <a:p>
            <a:pPr indent="0" marL="0">
              <a:buNone/>
            </a:pPr>
            <a:r>
              <a:rPr lang="en-US" sz="1800" dirty="0">
                <a:solidFill>
                  <a:schemeClr val="accent6"/>
                </a:solidFill>
              </a:rPr>
              <a:t>Our final presentation for the BCSE355L Cloud Architecture Design Project, Dr. Priya V</a:t>
            </a:r>
            <a:endParaRPr lang="en-US" sz="1800" dirty="0"/>
          </a:p>
          <a:p>
            <a:pPr indent="0" marL="0">
              <a:buNone/>
            </a:pPr>
            <a:r>
              <a:rPr lang="en-US" sz="1800" dirty="0">
                <a:solidFill>
                  <a:schemeClr val="accent6"/>
                </a:solidFill>
              </a:rPr>
              <a:t>Udit (lead), Manya, Tanmoy   |   github.com/uditdaftary/KGCR_Cloud_Project_2026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We found the defect that every scanner walks past</a:t>
            </a:r>
            <a:endParaRPr lang="en-US" sz="3000" dirty="0"/>
          </a:p>
        </p:txBody>
      </p:sp>
      <p:sp>
        <p:nvSpPr>
          <p:cNvPr id="3" name="Text 1"/>
          <p:cNvSpPr txBox="1"/>
          <p:nvPr/>
        </p:nvSpPr>
        <p:spPr>
          <a:xfrm>
            <a:off x="548640" y="1371600"/>
            <a:ext cx="5120640" cy="3108960"/>
          </a:xfrm>
          <a:prstGeom prst="rect">
            <a:avLst/>
          </a:prstGeom>
          <a:noFill/>
          <a:ln/>
        </p:spPr>
        <p:txBody>
          <a:bodyPr wrap="square" rtlCol="0" anchor="t"/>
          <a:lstStyle/>
          <a:p>
            <a:pPr marL="342900" indent="-342900">
              <a:spcAft>
                <a:spcPts val="1000"/>
              </a:spcAft>
              <a:buSzPct val="100000"/>
              <a:buChar char="•"/>
            </a:pPr>
            <a:r>
              <a:rPr lang="en-US" sz="1500" dirty="0">
                <a:solidFill>
                  <a:schemeClr val="tx1"/>
                </a:solidFill>
              </a:rPr>
              <a:t>Posture tools only see what is already deployed.</a:t>
            </a:r>
            <a:endParaRPr lang="en-US" sz="1500" dirty="0"/>
          </a:p>
          <a:p>
            <a:pPr marL="342900" indent="-342900">
              <a:spcAft>
                <a:spcPts val="1000"/>
              </a:spcAft>
              <a:buSzPct val="100000"/>
              <a:buChar char="•"/>
            </a:pPr>
            <a:r>
              <a:rPr lang="en-US" sz="1500" dirty="0">
                <a:solidFill>
                  <a:schemeClr val="tx1"/>
                </a:solidFill>
              </a:rPr>
              <a:t>Policy-as-code checks one resource at a time.</a:t>
            </a:r>
            <a:endParaRPr lang="en-US" sz="1500" dirty="0"/>
          </a:p>
          <a:p>
            <a:pPr marL="342900" indent="-342900">
              <a:spcAft>
                <a:spcPts val="1000"/>
              </a:spcAft>
              <a:buSzPct val="100000"/>
              <a:buChar char="•"/>
            </a:pPr>
            <a:r>
              <a:rPr lang="en-US" sz="1500" dirty="0">
                <a:solidFill>
                  <a:schemeClr val="tx1"/>
                </a:solidFill>
              </a:rPr>
              <a:t>Cost tools cannot see compliance.</a:t>
            </a:r>
            <a:endParaRPr lang="en-US" sz="1500" dirty="0"/>
          </a:p>
          <a:p>
            <a:pPr marL="342900" indent="-342900">
              <a:spcAft>
                <a:spcPts val="1000"/>
              </a:spcAft>
              <a:buSzPct val="100000"/>
              <a:buChar char="•"/>
            </a:pPr>
            <a:r>
              <a:rPr lang="en-US" sz="1500" dirty="0">
                <a:solidFill>
                  <a:schemeClr val="tx1"/>
                </a:solidFill>
              </a:rPr>
              <a:t>So we built the missing piece: one graph of the whole estate, tied to the controls it must meet.</a:t>
            </a:r>
            <a:endParaRPr lang="en-US" sz="1500" dirty="0"/>
          </a:p>
        </p:txBody>
      </p:sp>
      <p:sp>
        <p:nvSpPr>
          <p:cNvPr id="4" name="node-0"/>
          <p:cNvSpPr txBox="1"/>
          <p:nvPr/>
        </p:nvSpPr>
        <p:spPr>
          <a:xfrm>
            <a:off x="6949440" y="1371600"/>
            <a:ext cx="2377440" cy="685800"/>
          </a:xfrm>
          <a:prstGeom prst="roundRect">
            <a:avLst>
              <a:gd name="adj" fmla="val 8000"/>
            </a:avLst>
          </a:prstGeom>
          <a:solidFill>
            <a:schemeClr val="bg2"/>
          </a:solidFill>
          <a:ln/>
        </p:spPr>
        <p:txBody>
          <a:bodyPr wrap="square" rtlCol="0" anchor="ctr"/>
          <a:lstStyle/>
          <a:p>
            <a:pPr algn="ctr" indent="0" marL="0">
              <a:buNone/>
            </a:pPr>
            <a:r>
              <a:rPr lang="en-US" sz="1400" b="1" dirty="0">
                <a:solidFill>
                  <a:schemeClr val="tx1"/>
                </a:solidFill>
              </a:rPr>
              <a:t>Internet gateway</a:t>
            </a:r>
            <a:endParaRPr lang="en-US" sz="1400" dirty="0"/>
          </a:p>
        </p:txBody>
      </p:sp>
      <p:sp>
        <p:nvSpPr>
          <p:cNvPr id="5" name="Text 3"/>
          <p:cNvSpPr txBox="1"/>
          <p:nvPr/>
        </p:nvSpPr>
        <p:spPr>
          <a:xfrm>
            <a:off x="9509760" y="1508760"/>
            <a:ext cx="2194560" cy="411480"/>
          </a:xfrm>
          <a:prstGeom prst="rect">
            <a:avLst/>
          </a:prstGeom>
          <a:noFill/>
          <a:ln/>
        </p:spPr>
        <p:txBody>
          <a:bodyPr wrap="square" lIns="0" tIns="0" rIns="0" bIns="0" rtlCol="0" anchor="ctr"/>
          <a:lstStyle/>
          <a:p>
            <a:pPr indent="0" marL="0">
              <a:buNone/>
            </a:pPr>
            <a:r>
              <a:rPr lang="en-US" sz="1200" i="1" dirty="0">
                <a:solidFill>
                  <a:schemeClr val="accent3"/>
                </a:solidFill>
              </a:rPr>
              <a:t>passes a per-resource scan</a:t>
            </a:r>
            <a:endParaRPr lang="en-US" sz="1200" dirty="0"/>
          </a:p>
        </p:txBody>
      </p:sp>
      <p:sp>
        <p:nvSpPr>
          <p:cNvPr id="6" name="Shape 4"/>
          <p:cNvSpPr/>
          <p:nvPr/>
        </p:nvSpPr>
        <p:spPr>
          <a:xfrm>
            <a:off x="8138160" y="2057400"/>
            <a:ext cx="0" cy="457200"/>
          </a:xfrm>
          <a:prstGeom prst="line">
            <a:avLst/>
          </a:prstGeom>
          <a:noFill/>
          <a:ln w="19050">
            <a:solidFill>
              <a:schemeClr val="accent3"/>
            </a:solidFill>
            <a:prstDash val="solid"/>
            <a:tailEnd type="triangle"/>
          </a:ln>
        </p:spPr>
      </p:sp>
      <p:sp>
        <p:nvSpPr>
          <p:cNvPr id="7" name="node-1"/>
          <p:cNvSpPr txBox="1"/>
          <p:nvPr/>
        </p:nvSpPr>
        <p:spPr>
          <a:xfrm>
            <a:off x="6949440" y="2514600"/>
            <a:ext cx="2377440" cy="685800"/>
          </a:xfrm>
          <a:prstGeom prst="roundRect">
            <a:avLst>
              <a:gd name="adj" fmla="val 8000"/>
            </a:avLst>
          </a:prstGeom>
          <a:solidFill>
            <a:schemeClr val="bg2"/>
          </a:solidFill>
          <a:ln/>
        </p:spPr>
        <p:txBody>
          <a:bodyPr wrap="square" rtlCol="0" anchor="ctr"/>
          <a:lstStyle/>
          <a:p>
            <a:pPr algn="ctr" indent="0" marL="0">
              <a:buNone/>
            </a:pPr>
            <a:r>
              <a:rPr lang="en-US" sz="1400" b="1" dirty="0">
                <a:solidFill>
                  <a:schemeClr val="tx1"/>
                </a:solidFill>
              </a:rPr>
              <a:t>Public subnet</a:t>
            </a:r>
            <a:endParaRPr lang="en-US" sz="1400" dirty="0"/>
          </a:p>
        </p:txBody>
      </p:sp>
      <p:sp>
        <p:nvSpPr>
          <p:cNvPr id="8" name="Text 6"/>
          <p:cNvSpPr txBox="1"/>
          <p:nvPr/>
        </p:nvSpPr>
        <p:spPr>
          <a:xfrm>
            <a:off x="9509760" y="2651760"/>
            <a:ext cx="2194560" cy="411480"/>
          </a:xfrm>
          <a:prstGeom prst="rect">
            <a:avLst/>
          </a:prstGeom>
          <a:noFill/>
          <a:ln/>
        </p:spPr>
        <p:txBody>
          <a:bodyPr wrap="square" lIns="0" tIns="0" rIns="0" bIns="0" rtlCol="0" anchor="ctr"/>
          <a:lstStyle/>
          <a:p>
            <a:pPr indent="0" marL="0">
              <a:buNone/>
            </a:pPr>
            <a:r>
              <a:rPr lang="en-US" sz="1200" i="1" dirty="0">
                <a:solidFill>
                  <a:schemeClr val="accent3"/>
                </a:solidFill>
              </a:rPr>
              <a:t>passes a per-resource scan</a:t>
            </a:r>
            <a:endParaRPr lang="en-US" sz="1200" dirty="0"/>
          </a:p>
        </p:txBody>
      </p:sp>
      <p:sp>
        <p:nvSpPr>
          <p:cNvPr id="9" name="Shape 7"/>
          <p:cNvSpPr/>
          <p:nvPr/>
        </p:nvSpPr>
        <p:spPr>
          <a:xfrm>
            <a:off x="8138160" y="3200400"/>
            <a:ext cx="0" cy="457200"/>
          </a:xfrm>
          <a:prstGeom prst="line">
            <a:avLst/>
          </a:prstGeom>
          <a:noFill/>
          <a:ln w="19050">
            <a:solidFill>
              <a:schemeClr val="accent3"/>
            </a:solidFill>
            <a:prstDash val="solid"/>
            <a:tailEnd type="triangle"/>
          </a:ln>
        </p:spPr>
      </p:sp>
      <p:sp>
        <p:nvSpPr>
          <p:cNvPr id="10" name="node-2"/>
          <p:cNvSpPr txBox="1"/>
          <p:nvPr/>
        </p:nvSpPr>
        <p:spPr>
          <a:xfrm>
            <a:off x="6949440" y="3657600"/>
            <a:ext cx="2377440" cy="685800"/>
          </a:xfrm>
          <a:prstGeom prst="roundRect">
            <a:avLst>
              <a:gd name="adj" fmla="val 8000"/>
            </a:avLst>
          </a:prstGeom>
          <a:solidFill>
            <a:schemeClr val="bg2"/>
          </a:solidFill>
          <a:ln/>
        </p:spPr>
        <p:txBody>
          <a:bodyPr wrap="square" rtlCol="0" anchor="ctr"/>
          <a:lstStyle/>
          <a:p>
            <a:pPr algn="ctr" indent="0" marL="0">
              <a:buNone/>
            </a:pPr>
            <a:r>
              <a:rPr lang="en-US" sz="1400" b="1" dirty="0">
                <a:solidFill>
                  <a:schemeClr val="tx1"/>
                </a:solidFill>
              </a:rPr>
              <a:t>App host</a:t>
            </a:r>
            <a:endParaRPr lang="en-US" sz="1400" dirty="0"/>
          </a:p>
        </p:txBody>
      </p:sp>
      <p:sp>
        <p:nvSpPr>
          <p:cNvPr id="11" name="Text 9"/>
          <p:cNvSpPr txBox="1"/>
          <p:nvPr/>
        </p:nvSpPr>
        <p:spPr>
          <a:xfrm>
            <a:off x="9509760" y="3794760"/>
            <a:ext cx="2194560" cy="411480"/>
          </a:xfrm>
          <a:prstGeom prst="rect">
            <a:avLst/>
          </a:prstGeom>
          <a:noFill/>
          <a:ln/>
        </p:spPr>
        <p:txBody>
          <a:bodyPr wrap="square" lIns="0" tIns="0" rIns="0" bIns="0" rtlCol="0" anchor="ctr"/>
          <a:lstStyle/>
          <a:p>
            <a:pPr indent="0" marL="0">
              <a:buNone/>
            </a:pPr>
            <a:r>
              <a:rPr lang="en-US" sz="1200" i="1" dirty="0">
                <a:solidFill>
                  <a:schemeClr val="accent3"/>
                </a:solidFill>
              </a:rPr>
              <a:t>passes a per-resource scan</a:t>
            </a:r>
            <a:endParaRPr lang="en-US" sz="1200" dirty="0"/>
          </a:p>
        </p:txBody>
      </p:sp>
      <p:sp>
        <p:nvSpPr>
          <p:cNvPr id="12" name="Shape 10"/>
          <p:cNvSpPr/>
          <p:nvPr/>
        </p:nvSpPr>
        <p:spPr>
          <a:xfrm>
            <a:off x="8138160" y="4343400"/>
            <a:ext cx="0" cy="457200"/>
          </a:xfrm>
          <a:prstGeom prst="line">
            <a:avLst/>
          </a:prstGeom>
          <a:noFill/>
          <a:ln w="19050">
            <a:solidFill>
              <a:schemeClr val="accent3"/>
            </a:solidFill>
            <a:prstDash val="solid"/>
            <a:tailEnd type="triangle"/>
          </a:ln>
        </p:spPr>
      </p:sp>
      <p:sp>
        <p:nvSpPr>
          <p:cNvPr id="13" name="node-3"/>
          <p:cNvSpPr txBox="1"/>
          <p:nvPr/>
        </p:nvSpPr>
        <p:spPr>
          <a:xfrm>
            <a:off x="6949440" y="4800600"/>
            <a:ext cx="2377440" cy="685800"/>
          </a:xfrm>
          <a:prstGeom prst="roundRect">
            <a:avLst>
              <a:gd name="adj" fmla="val 8000"/>
            </a:avLst>
          </a:prstGeom>
          <a:solidFill>
            <a:schemeClr val="accent4"/>
          </a:solidFill>
          <a:ln/>
        </p:spPr>
        <p:txBody>
          <a:bodyPr wrap="square" rtlCol="0" anchor="ctr"/>
          <a:lstStyle/>
          <a:p>
            <a:pPr algn="ctr" indent="0" marL="0">
              <a:buNone/>
            </a:pPr>
            <a:r>
              <a:rPr lang="en-US" sz="1400" b="1" dirty="0">
                <a:solidFill>
                  <a:schemeClr val="bg1"/>
                </a:solidFill>
              </a:rPr>
              <a:t>Cardholder DB</a:t>
            </a:r>
            <a:endParaRPr lang="en-US" sz="1400" dirty="0"/>
          </a:p>
        </p:txBody>
      </p:sp>
      <p:sp>
        <p:nvSpPr>
          <p:cNvPr id="14" name="Text 12"/>
          <p:cNvSpPr txBox="1"/>
          <p:nvPr/>
        </p:nvSpPr>
        <p:spPr>
          <a:xfrm>
            <a:off x="9509760" y="4937760"/>
            <a:ext cx="2194560" cy="411480"/>
          </a:xfrm>
          <a:prstGeom prst="rect">
            <a:avLst/>
          </a:prstGeom>
          <a:noFill/>
          <a:ln/>
        </p:spPr>
        <p:txBody>
          <a:bodyPr wrap="square" lIns="0" tIns="0" rIns="0" bIns="0" rtlCol="0" anchor="ctr"/>
          <a:lstStyle/>
          <a:p>
            <a:pPr indent="0" marL="0">
              <a:buNone/>
            </a:pPr>
            <a:r>
              <a:rPr lang="en-US" sz="1200" i="1" dirty="0">
                <a:solidFill>
                  <a:schemeClr val="accent3"/>
                </a:solidFill>
              </a:rPr>
              <a:t>passes a per-resource scan</a:t>
            </a:r>
            <a:endParaRPr lang="en-US" sz="1200" dirty="0"/>
          </a:p>
        </p:txBody>
      </p:sp>
      <p:sp>
        <p:nvSpPr>
          <p:cNvPr id="15" name="Text 13"/>
          <p:cNvSpPr txBox="1"/>
          <p:nvPr/>
        </p:nvSpPr>
        <p:spPr>
          <a:xfrm>
            <a:off x="548640" y="4663440"/>
            <a:ext cx="5669280" cy="1097280"/>
          </a:xfrm>
          <a:prstGeom prst="rect">
            <a:avLst/>
          </a:prstGeom>
          <a:noFill/>
          <a:ln/>
        </p:spPr>
        <p:txBody>
          <a:bodyPr wrap="square" rtlCol="0" anchor="t"/>
          <a:lstStyle/>
          <a:p>
            <a:pPr indent="0" marL="0">
              <a:buNone/>
            </a:pPr>
            <a:r>
              <a:rPr lang="en-US" sz="1500" i="1" dirty="0">
                <a:solidFill>
                  <a:schemeClr val="accent1"/>
                </a:solidFill>
              </a:rPr>
              <a:t>Every hop is compliant on its own. The path from the internet to cardholder data is the defect (DF-7), and our graph finds it.</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Fifteen papers agree on the gap, and we built into it</a:t>
            </a:r>
            <a:endParaRPr lang="en-US" sz="3000" dirty="0"/>
          </a:p>
        </p:txBody>
      </p:sp>
      <p:sp>
        <p:nvSpPr>
          <p:cNvPr id="3" name="Text 1"/>
          <p:cNvSpPr txBox="1"/>
          <p:nvPr/>
        </p:nvSpPr>
        <p:spPr>
          <a:xfrm>
            <a:off x="548640" y="1463040"/>
            <a:ext cx="329184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15</a:t>
            </a:r>
            <a:endParaRPr lang="en-US" sz="4400" dirty="0"/>
          </a:p>
        </p:txBody>
      </p:sp>
      <p:sp>
        <p:nvSpPr>
          <p:cNvPr id="4" name="Text 2"/>
          <p:cNvSpPr txBox="1"/>
          <p:nvPr/>
        </p:nvSpPr>
        <p:spPr>
          <a:xfrm>
            <a:off x="548640" y="2286000"/>
            <a:ext cx="3291840" cy="731520"/>
          </a:xfrm>
          <a:prstGeom prst="rect">
            <a:avLst/>
          </a:prstGeom>
          <a:noFill/>
          <a:ln/>
        </p:spPr>
        <p:txBody>
          <a:bodyPr wrap="square" lIns="0" tIns="0" rIns="0" bIns="0" rtlCol="0" anchor="t"/>
          <a:lstStyle/>
          <a:p>
            <a:pPr indent="0" marL="0">
              <a:buNone/>
            </a:pPr>
            <a:r>
              <a:rPr lang="en-US" sz="1300" dirty="0">
                <a:solidFill>
                  <a:schemeClr val="tx1"/>
                </a:solidFill>
              </a:rPr>
              <a:t>papers, 2023 to 2026, from IEEE, Springer, Elsevier, ACM and MDPI; we checked every record against Crossref</a:t>
            </a:r>
            <a:endParaRPr lang="en-US" sz="1300" dirty="0"/>
          </a:p>
        </p:txBody>
      </p:sp>
      <p:sp>
        <p:nvSpPr>
          <p:cNvPr id="5" name="finding-0"/>
          <p:cNvSpPr/>
          <p:nvPr/>
        </p:nvSpPr>
        <p:spPr>
          <a:xfrm>
            <a:off x="4297680" y="1371600"/>
            <a:ext cx="3566160" cy="2057400"/>
          </a:xfrm>
          <a:prstGeom prst="rect">
            <a:avLst/>
          </a:prstGeom>
          <a:solidFill>
            <a:schemeClr val="bg2"/>
          </a:solidFill>
          <a:ln w="12700">
            <a:solidFill>
              <a:schemeClr val="bg2"/>
            </a:solidFill>
            <a:prstDash val="solid"/>
          </a:ln>
        </p:spPr>
      </p:sp>
      <p:sp>
        <p:nvSpPr>
          <p:cNvPr id="6" name="Text 4"/>
          <p:cNvSpPr txBox="1"/>
          <p:nvPr/>
        </p:nvSpPr>
        <p:spPr>
          <a:xfrm>
            <a:off x="4480560" y="1508760"/>
            <a:ext cx="3200400" cy="45720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Measured, not reasoned</a:t>
            </a:r>
            <a:endParaRPr lang="en-US" sz="1800" dirty="0"/>
          </a:p>
        </p:txBody>
      </p:sp>
      <p:sp>
        <p:nvSpPr>
          <p:cNvPr id="7" name="Text 5"/>
          <p:cNvSpPr txBox="1"/>
          <p:nvPr/>
        </p:nvSpPr>
        <p:spPr>
          <a:xfrm>
            <a:off x="4480560" y="2057400"/>
            <a:ext cx="3200400" cy="1234440"/>
          </a:xfrm>
          <a:prstGeom prst="rect">
            <a:avLst/>
          </a:prstGeom>
          <a:noFill/>
          <a:ln/>
        </p:spPr>
        <p:txBody>
          <a:bodyPr wrap="square" lIns="0" tIns="0" rIns="0" bIns="0" rtlCol="0" anchor="t"/>
          <a:lstStyle/>
          <a:p>
            <a:pPr indent="0" marL="0">
              <a:buNone/>
            </a:pPr>
            <a:r>
              <a:rPr lang="en-US" sz="1400" dirty="0">
                <a:solidFill>
                  <a:schemeClr val="tx1"/>
                </a:solidFill>
              </a:rPr>
              <a:t>The literature scores configuration security after the fact. We reason about it before deployment.</a:t>
            </a:r>
            <a:endParaRPr lang="en-US" sz="1400" dirty="0"/>
          </a:p>
        </p:txBody>
      </p:sp>
      <p:sp>
        <p:nvSpPr>
          <p:cNvPr id="8" name="finding-1"/>
          <p:cNvSpPr/>
          <p:nvPr/>
        </p:nvSpPr>
        <p:spPr>
          <a:xfrm>
            <a:off x="8092440" y="1371600"/>
            <a:ext cx="3566160" cy="2057400"/>
          </a:xfrm>
          <a:prstGeom prst="rect">
            <a:avLst/>
          </a:prstGeom>
          <a:solidFill>
            <a:schemeClr val="bg2"/>
          </a:solidFill>
          <a:ln w="12700">
            <a:solidFill>
              <a:schemeClr val="bg2"/>
            </a:solidFill>
            <a:prstDash val="solid"/>
          </a:ln>
        </p:spPr>
      </p:sp>
      <p:sp>
        <p:nvSpPr>
          <p:cNvPr id="9" name="Text 7"/>
          <p:cNvSpPr txBox="1"/>
          <p:nvPr/>
        </p:nvSpPr>
        <p:spPr>
          <a:xfrm>
            <a:off x="8275320" y="1508760"/>
            <a:ext cx="3200400" cy="45720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Graphs used reactively</a:t>
            </a:r>
            <a:endParaRPr lang="en-US" sz="1800" dirty="0"/>
          </a:p>
        </p:txBody>
      </p:sp>
      <p:sp>
        <p:nvSpPr>
          <p:cNvPr id="10" name="Text 8"/>
          <p:cNvSpPr txBox="1"/>
          <p:nvPr/>
        </p:nvSpPr>
        <p:spPr>
          <a:xfrm>
            <a:off x="8275320" y="2057400"/>
            <a:ext cx="3200400" cy="1234440"/>
          </a:xfrm>
          <a:prstGeom prst="rect">
            <a:avLst/>
          </a:prstGeom>
          <a:noFill/>
          <a:ln/>
        </p:spPr>
        <p:txBody>
          <a:bodyPr wrap="square" lIns="0" tIns="0" rIns="0" bIns="0" rtlCol="0" anchor="t"/>
          <a:lstStyle/>
          <a:p>
            <a:pPr indent="0" marL="0">
              <a:buNone/>
            </a:pPr>
            <a:r>
              <a:rPr lang="en-US" sz="1400" dirty="0">
                <a:solidFill>
                  <a:schemeClr val="tx1"/>
                </a:solidFill>
              </a:rPr>
              <a:t>Graphs show up in incident analysis. We put one at the centre of review and design.</a:t>
            </a:r>
            <a:endParaRPr lang="en-US" sz="1400" dirty="0"/>
          </a:p>
        </p:txBody>
      </p:sp>
      <p:sp>
        <p:nvSpPr>
          <p:cNvPr id="11" name="finding-2"/>
          <p:cNvSpPr/>
          <p:nvPr/>
        </p:nvSpPr>
        <p:spPr>
          <a:xfrm>
            <a:off x="4297680" y="3703320"/>
            <a:ext cx="3566160" cy="2057400"/>
          </a:xfrm>
          <a:prstGeom prst="rect">
            <a:avLst/>
          </a:prstGeom>
          <a:solidFill>
            <a:schemeClr val="bg2"/>
          </a:solidFill>
          <a:ln w="12700">
            <a:solidFill>
              <a:schemeClr val="bg2"/>
            </a:solidFill>
            <a:prstDash val="solid"/>
          </a:ln>
        </p:spPr>
      </p:sp>
      <p:sp>
        <p:nvSpPr>
          <p:cNvPr id="12" name="Text 10"/>
          <p:cNvSpPr txBox="1"/>
          <p:nvPr/>
        </p:nvSpPr>
        <p:spPr>
          <a:xfrm>
            <a:off x="4480560" y="3840480"/>
            <a:ext cx="3200400" cy="45720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Two separate graphs</a:t>
            </a:r>
            <a:endParaRPr lang="en-US" sz="1800" dirty="0"/>
          </a:p>
        </p:txBody>
      </p:sp>
      <p:sp>
        <p:nvSpPr>
          <p:cNvPr id="13" name="Text 11"/>
          <p:cNvSpPr txBox="1"/>
          <p:nvPr/>
        </p:nvSpPr>
        <p:spPr>
          <a:xfrm>
            <a:off x="4480560" y="4389120"/>
            <a:ext cx="3200400" cy="1234440"/>
          </a:xfrm>
          <a:prstGeom prst="rect">
            <a:avLst/>
          </a:prstGeom>
          <a:noFill/>
          <a:ln/>
        </p:spPr>
        <p:txBody>
          <a:bodyPr wrap="square" lIns="0" tIns="0" rIns="0" bIns="0" rtlCol="0" anchor="t"/>
          <a:lstStyle/>
          <a:p>
            <a:pPr indent="0" marL="0">
              <a:buNone/>
            </a:pPr>
            <a:r>
              <a:rPr lang="en-US" sz="1400" dirty="0">
                <a:solidFill>
                  <a:schemeClr val="tx1"/>
                </a:solidFill>
              </a:rPr>
              <a:t>Compliance knowledge and configuration knowledge are never joined. We join them.</a:t>
            </a:r>
            <a:endParaRPr lang="en-US" sz="1400" dirty="0"/>
          </a:p>
        </p:txBody>
      </p:sp>
      <p:sp>
        <p:nvSpPr>
          <p:cNvPr id="14" name="finding-3"/>
          <p:cNvSpPr/>
          <p:nvPr/>
        </p:nvSpPr>
        <p:spPr>
          <a:xfrm>
            <a:off x="8092440" y="3703320"/>
            <a:ext cx="3566160" cy="2057400"/>
          </a:xfrm>
          <a:prstGeom prst="rect">
            <a:avLst/>
          </a:prstGeom>
          <a:solidFill>
            <a:schemeClr val="bg2"/>
          </a:solidFill>
          <a:ln w="12700">
            <a:solidFill>
              <a:schemeClr val="bg2"/>
            </a:solidFill>
            <a:prstDash val="solid"/>
          </a:ln>
        </p:spPr>
      </p:sp>
      <p:sp>
        <p:nvSpPr>
          <p:cNvPr id="15" name="Text 13"/>
          <p:cNvSpPr txBox="1"/>
          <p:nvPr/>
        </p:nvSpPr>
        <p:spPr>
          <a:xfrm>
            <a:off x="8275320" y="3840480"/>
            <a:ext cx="3200400" cy="45720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Intent is an input</a:t>
            </a:r>
            <a:endParaRPr lang="en-US" sz="1800" dirty="0"/>
          </a:p>
        </p:txBody>
      </p:sp>
      <p:sp>
        <p:nvSpPr>
          <p:cNvPr id="16" name="Text 14"/>
          <p:cNvSpPr txBox="1"/>
          <p:nvPr/>
        </p:nvSpPr>
        <p:spPr>
          <a:xfrm>
            <a:off x="8275320" y="4389120"/>
            <a:ext cx="3200400" cy="1234440"/>
          </a:xfrm>
          <a:prstGeom prst="rect">
            <a:avLst/>
          </a:prstGeom>
          <a:noFill/>
          <a:ln/>
        </p:spPr>
        <p:txBody>
          <a:bodyPr wrap="square" lIns="0" tIns="0" rIns="0" bIns="0" rtlCol="0" anchor="t"/>
          <a:lstStyle/>
          <a:p>
            <a:pPr indent="0" marL="0">
              <a:buNone/>
            </a:pPr>
            <a:r>
              <a:rPr lang="en-US" sz="1400" dirty="0">
                <a:solidFill>
                  <a:schemeClr val="tx1"/>
                </a:solidFill>
              </a:rPr>
              <a:t>Every system takes intent as given. We recover it from an existing estate.</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We set six objectives and shipped against every one</a:t>
            </a:r>
            <a:endParaRPr lang="en-US" sz="3000" dirty="0"/>
          </a:p>
        </p:txBody>
      </p:sp>
      <p:sp>
        <p:nvSpPr>
          <p:cNvPr id="3" name="Text 1"/>
          <p:cNvSpPr txBox="1"/>
          <p:nvPr/>
        </p:nvSpPr>
        <p:spPr>
          <a:xfrm>
            <a:off x="548640" y="1325880"/>
            <a:ext cx="640080" cy="54864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O1</a:t>
            </a:r>
            <a:endParaRPr lang="en-US" sz="2000" dirty="0"/>
          </a:p>
        </p:txBody>
      </p:sp>
      <p:sp>
        <p:nvSpPr>
          <p:cNvPr id="4" name="Text 2"/>
          <p:cNvSpPr txBox="1"/>
          <p:nvPr/>
        </p:nvSpPr>
        <p:spPr>
          <a:xfrm>
            <a:off x="1234440" y="1325880"/>
            <a:ext cx="5120640" cy="548640"/>
          </a:xfrm>
          <a:prstGeom prst="rect">
            <a:avLst/>
          </a:prstGeom>
          <a:noFill/>
          <a:ln/>
        </p:spPr>
        <p:txBody>
          <a:bodyPr wrap="square" lIns="0" tIns="0" rIns="0" bIns="0" rtlCol="0" anchor="ctr"/>
          <a:lstStyle/>
          <a:p>
            <a:pPr indent="0" marL="0">
              <a:buNone/>
            </a:pPr>
            <a:r>
              <a:rPr lang="en-US" sz="1600" dirty="0">
                <a:solidFill>
                  <a:schemeClr val="tx1"/>
                </a:solidFill>
              </a:rPr>
              <a:t>Encode controls as a queryable graph (L1)</a:t>
            </a:r>
            <a:endParaRPr lang="en-US" sz="1600" dirty="0"/>
          </a:p>
        </p:txBody>
      </p:sp>
      <p:sp>
        <p:nvSpPr>
          <p:cNvPr id="5" name="chip-draft"/>
          <p:cNvSpPr txBox="1"/>
          <p:nvPr/>
        </p:nvSpPr>
        <p:spPr>
          <a:xfrm>
            <a:off x="6492240" y="1453896"/>
            <a:ext cx="1828800" cy="292608"/>
          </a:xfrm>
          <a:prstGeom prst="roundRect">
            <a:avLst>
              <a:gd name="adj" fmla="val 15625"/>
            </a:avLst>
          </a:prstGeom>
          <a:solidFill>
            <a:schemeClr val="accent2"/>
          </a:solidFill>
          <a:ln/>
        </p:spPr>
        <p:txBody>
          <a:bodyPr wrap="square" lIns="0" tIns="0" rIns="0" bIns="0" rtlCol="0" anchor="ctr"/>
          <a:lstStyle/>
          <a:p>
            <a:pPr algn="ctr" indent="0" marL="0">
              <a:buNone/>
            </a:pPr>
            <a:r>
              <a:rPr lang="en-US" sz="1100" b="1" dirty="0">
                <a:solidFill>
                  <a:schemeClr val="bg1"/>
                </a:solidFill>
              </a:rPr>
              <a:t>Draft, in review</a:t>
            </a:r>
            <a:endParaRPr lang="en-US" sz="1100" dirty="0"/>
          </a:p>
        </p:txBody>
      </p:sp>
      <p:sp>
        <p:nvSpPr>
          <p:cNvPr id="6" name="Text 4"/>
          <p:cNvSpPr txBox="1"/>
          <p:nvPr/>
        </p:nvSpPr>
        <p:spPr>
          <a:xfrm>
            <a:off x="8503920" y="1325880"/>
            <a:ext cx="3200400" cy="548640"/>
          </a:xfrm>
          <a:prstGeom prst="rect">
            <a:avLst/>
          </a:prstGeom>
          <a:noFill/>
          <a:ln/>
        </p:spPr>
        <p:txBody>
          <a:bodyPr wrap="square" lIns="0" tIns="0" rIns="0" bIns="0" rtlCol="0" anchor="ctr"/>
          <a:lstStyle/>
          <a:p>
            <a:pPr indent="0" marL="0">
              <a:buNone/>
            </a:pPr>
            <a:r>
              <a:rPr lang="en-US" sz="1300" dirty="0">
                <a:solidFill>
                  <a:schemeClr val="accent3"/>
                </a:solidFill>
              </a:rPr>
              <a:t>six controls drafted and linked, review in progress</a:t>
            </a:r>
            <a:endParaRPr lang="en-US" sz="1300" dirty="0"/>
          </a:p>
        </p:txBody>
      </p:sp>
      <p:sp>
        <p:nvSpPr>
          <p:cNvPr id="7" name="Text 5"/>
          <p:cNvSpPr txBox="1"/>
          <p:nvPr/>
        </p:nvSpPr>
        <p:spPr>
          <a:xfrm>
            <a:off x="548640" y="2130552"/>
            <a:ext cx="640080" cy="54864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O2</a:t>
            </a:r>
            <a:endParaRPr lang="en-US" sz="2000" dirty="0"/>
          </a:p>
        </p:txBody>
      </p:sp>
      <p:sp>
        <p:nvSpPr>
          <p:cNvPr id="8" name="Text 6"/>
          <p:cNvSpPr txBox="1"/>
          <p:nvPr/>
        </p:nvSpPr>
        <p:spPr>
          <a:xfrm>
            <a:off x="1234440" y="2130552"/>
            <a:ext cx="5120640" cy="548640"/>
          </a:xfrm>
          <a:prstGeom prst="rect">
            <a:avLst/>
          </a:prstGeom>
          <a:noFill/>
          <a:ln/>
        </p:spPr>
        <p:txBody>
          <a:bodyPr wrap="square" lIns="0" tIns="0" rIns="0" bIns="0" rtlCol="0" anchor="ctr"/>
          <a:lstStyle/>
          <a:p>
            <a:pPr indent="0" marL="0">
              <a:buNone/>
            </a:pPr>
            <a:r>
              <a:rPr lang="en-US" sz="1600" dirty="0">
                <a:solidFill>
                  <a:schemeClr val="tx1"/>
                </a:solidFill>
              </a:rPr>
              <a:t>Detect multi-hop defects per-resource engines miss</a:t>
            </a:r>
            <a:endParaRPr lang="en-US" sz="1600" dirty="0"/>
          </a:p>
        </p:txBody>
      </p:sp>
      <p:sp>
        <p:nvSpPr>
          <p:cNvPr id="9" name="chip-runs"/>
          <p:cNvSpPr txBox="1"/>
          <p:nvPr/>
        </p:nvSpPr>
        <p:spPr>
          <a:xfrm>
            <a:off x="6492240" y="2258568"/>
            <a:ext cx="1828800" cy="292608"/>
          </a:xfrm>
          <a:prstGeom prst="roundRect">
            <a:avLst>
              <a:gd name="adj" fmla="val 15625"/>
            </a:avLst>
          </a:prstGeom>
          <a:solidFill>
            <a:schemeClr val="accent1"/>
          </a:solidFill>
          <a:ln/>
        </p:spPr>
        <p:txBody>
          <a:bodyPr wrap="square" lIns="0" tIns="0" rIns="0" bIns="0" rtlCol="0" anchor="ctr"/>
          <a:lstStyle/>
          <a:p>
            <a:pPr algn="ctr" indent="0" marL="0">
              <a:buNone/>
            </a:pPr>
            <a:r>
              <a:rPr lang="en-US" sz="1100" b="1" dirty="0">
                <a:solidFill>
                  <a:schemeClr val="bg1"/>
                </a:solidFill>
              </a:rPr>
              <a:t>Runs today</a:t>
            </a:r>
            <a:endParaRPr lang="en-US" sz="1100" dirty="0"/>
          </a:p>
        </p:txBody>
      </p:sp>
      <p:sp>
        <p:nvSpPr>
          <p:cNvPr id="10" name="Text 8"/>
          <p:cNvSpPr txBox="1"/>
          <p:nvPr/>
        </p:nvSpPr>
        <p:spPr>
          <a:xfrm>
            <a:off x="8503920" y="2130552"/>
            <a:ext cx="3200400" cy="548640"/>
          </a:xfrm>
          <a:prstGeom prst="rect">
            <a:avLst/>
          </a:prstGeom>
          <a:noFill/>
          <a:ln/>
        </p:spPr>
        <p:txBody>
          <a:bodyPr wrap="square" lIns="0" tIns="0" rIns="0" bIns="0" rtlCol="0" anchor="ctr"/>
          <a:lstStyle/>
          <a:p>
            <a:pPr indent="0" marL="0">
              <a:buNone/>
            </a:pPr>
            <a:r>
              <a:rPr lang="en-US" sz="1300" dirty="0">
                <a:solidFill>
                  <a:schemeClr val="accent3"/>
                </a:solidFill>
              </a:rPr>
              <a:t>graph 12/12, Checkov blind on 12/12</a:t>
            </a:r>
            <a:endParaRPr lang="en-US" sz="1300" dirty="0"/>
          </a:p>
        </p:txBody>
      </p:sp>
      <p:sp>
        <p:nvSpPr>
          <p:cNvPr id="11" name="Text 9"/>
          <p:cNvSpPr txBox="1"/>
          <p:nvPr/>
        </p:nvSpPr>
        <p:spPr>
          <a:xfrm>
            <a:off x="548640" y="2935224"/>
            <a:ext cx="640080" cy="54864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O3</a:t>
            </a:r>
            <a:endParaRPr lang="en-US" sz="2000" dirty="0"/>
          </a:p>
        </p:txBody>
      </p:sp>
      <p:sp>
        <p:nvSpPr>
          <p:cNvPr id="12" name="Text 10"/>
          <p:cNvSpPr txBox="1"/>
          <p:nvPr/>
        </p:nvSpPr>
        <p:spPr>
          <a:xfrm>
            <a:off x="1234440" y="2935224"/>
            <a:ext cx="5120640" cy="548640"/>
          </a:xfrm>
          <a:prstGeom prst="rect">
            <a:avLst/>
          </a:prstGeom>
          <a:noFill/>
          <a:ln/>
        </p:spPr>
        <p:txBody>
          <a:bodyPr wrap="square" lIns="0" tIns="0" rIns="0" bIns="0" rtlCol="0" anchor="ctr"/>
          <a:lstStyle/>
          <a:p>
            <a:pPr indent="0" marL="0">
              <a:buNone/>
            </a:pPr>
            <a:r>
              <a:rPr lang="en-US" sz="1600" dirty="0">
                <a:solidFill>
                  <a:schemeClr val="tx1"/>
                </a:solidFill>
              </a:rPr>
              <a:t>Recommend a compliant configuration from intent</a:t>
            </a:r>
            <a:endParaRPr lang="en-US" sz="1600" dirty="0"/>
          </a:p>
        </p:txBody>
      </p:sp>
      <p:sp>
        <p:nvSpPr>
          <p:cNvPr id="13" name="chip-runs"/>
          <p:cNvSpPr txBox="1"/>
          <p:nvPr/>
        </p:nvSpPr>
        <p:spPr>
          <a:xfrm>
            <a:off x="6492240" y="3063240"/>
            <a:ext cx="1828800" cy="292608"/>
          </a:xfrm>
          <a:prstGeom prst="roundRect">
            <a:avLst>
              <a:gd name="adj" fmla="val 15625"/>
            </a:avLst>
          </a:prstGeom>
          <a:solidFill>
            <a:schemeClr val="accent1"/>
          </a:solidFill>
          <a:ln/>
        </p:spPr>
        <p:txBody>
          <a:bodyPr wrap="square" lIns="0" tIns="0" rIns="0" bIns="0" rtlCol="0" anchor="ctr"/>
          <a:lstStyle/>
          <a:p>
            <a:pPr algn="ctr" indent="0" marL="0">
              <a:buNone/>
            </a:pPr>
            <a:r>
              <a:rPr lang="en-US" sz="1100" b="1" dirty="0">
                <a:solidFill>
                  <a:schemeClr val="bg1"/>
                </a:solidFill>
              </a:rPr>
              <a:t>Runs today</a:t>
            </a:r>
            <a:endParaRPr lang="en-US" sz="1100" dirty="0"/>
          </a:p>
        </p:txBody>
      </p:sp>
      <p:sp>
        <p:nvSpPr>
          <p:cNvPr id="14" name="Text 12"/>
          <p:cNvSpPr txBox="1"/>
          <p:nvPr/>
        </p:nvSpPr>
        <p:spPr>
          <a:xfrm>
            <a:off x="8503920" y="2935224"/>
            <a:ext cx="3200400" cy="548640"/>
          </a:xfrm>
          <a:prstGeom prst="rect">
            <a:avLst/>
          </a:prstGeom>
          <a:noFill/>
          <a:ln/>
        </p:spPr>
        <p:txBody>
          <a:bodyPr wrap="square" lIns="0" tIns="0" rIns="0" bIns="0" rtlCol="0" anchor="ctr"/>
          <a:lstStyle/>
          <a:p>
            <a:pPr indent="0" marL="0">
              <a:buNone/>
            </a:pPr>
            <a:r>
              <a:rPr lang="en-US" sz="1300" dirty="0">
                <a:solidFill>
                  <a:schemeClr val="accent3"/>
                </a:solidFill>
              </a:rPr>
              <a:t>ranker plus a hard CRITICAL mask, then plan and apply</a:t>
            </a:r>
            <a:endParaRPr lang="en-US" sz="1300" dirty="0"/>
          </a:p>
        </p:txBody>
      </p:sp>
      <p:sp>
        <p:nvSpPr>
          <p:cNvPr id="15" name="Text 13"/>
          <p:cNvSpPr txBox="1"/>
          <p:nvPr/>
        </p:nvSpPr>
        <p:spPr>
          <a:xfrm>
            <a:off x="548640" y="3739896"/>
            <a:ext cx="640080" cy="54864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O4</a:t>
            </a:r>
            <a:endParaRPr lang="en-US" sz="2000" dirty="0"/>
          </a:p>
        </p:txBody>
      </p:sp>
      <p:sp>
        <p:nvSpPr>
          <p:cNvPr id="16" name="Text 14"/>
          <p:cNvSpPr txBox="1"/>
          <p:nvPr/>
        </p:nvSpPr>
        <p:spPr>
          <a:xfrm>
            <a:off x="1234440" y="3739896"/>
            <a:ext cx="5120640" cy="548640"/>
          </a:xfrm>
          <a:prstGeom prst="rect">
            <a:avLst/>
          </a:prstGeom>
          <a:noFill/>
          <a:ln/>
        </p:spPr>
        <p:txBody>
          <a:bodyPr wrap="square" lIns="0" tIns="0" rIns="0" bIns="0" rtlCol="0" anchor="ctr"/>
          <a:lstStyle/>
          <a:p>
            <a:pPr indent="0" marL="0">
              <a:buNone/>
            </a:pPr>
            <a:r>
              <a:rPr lang="en-US" sz="1600" dirty="0">
                <a:solidFill>
                  <a:schemeClr val="tx1"/>
                </a:solidFill>
              </a:rPr>
              <a:t>Reconstruct intent with calibrated confidence</a:t>
            </a:r>
            <a:endParaRPr lang="en-US" sz="1600" dirty="0"/>
          </a:p>
        </p:txBody>
      </p:sp>
      <p:sp>
        <p:nvSpPr>
          <p:cNvPr id="17" name="chip-runs"/>
          <p:cNvSpPr txBox="1"/>
          <p:nvPr/>
        </p:nvSpPr>
        <p:spPr>
          <a:xfrm>
            <a:off x="6492240" y="3867912"/>
            <a:ext cx="1828800" cy="292608"/>
          </a:xfrm>
          <a:prstGeom prst="roundRect">
            <a:avLst>
              <a:gd name="adj" fmla="val 15625"/>
            </a:avLst>
          </a:prstGeom>
          <a:solidFill>
            <a:schemeClr val="accent1"/>
          </a:solidFill>
          <a:ln/>
        </p:spPr>
        <p:txBody>
          <a:bodyPr wrap="square" lIns="0" tIns="0" rIns="0" bIns="0" rtlCol="0" anchor="ctr"/>
          <a:lstStyle/>
          <a:p>
            <a:pPr algn="ctr" indent="0" marL="0">
              <a:buNone/>
            </a:pPr>
            <a:r>
              <a:rPr lang="en-US" sz="1100" b="1" dirty="0">
                <a:solidFill>
                  <a:schemeClr val="bg1"/>
                </a:solidFill>
              </a:rPr>
              <a:t>Runs today</a:t>
            </a:r>
            <a:endParaRPr lang="en-US" sz="1100" dirty="0"/>
          </a:p>
        </p:txBody>
      </p:sp>
      <p:sp>
        <p:nvSpPr>
          <p:cNvPr id="18" name="Text 16"/>
          <p:cNvSpPr txBox="1"/>
          <p:nvPr/>
        </p:nvSpPr>
        <p:spPr>
          <a:xfrm>
            <a:off x="8503920" y="3739896"/>
            <a:ext cx="3200400" cy="548640"/>
          </a:xfrm>
          <a:prstGeom prst="rect">
            <a:avLst/>
          </a:prstGeom>
          <a:noFill/>
          <a:ln/>
        </p:spPr>
        <p:txBody>
          <a:bodyPr wrap="square" lIns="0" tIns="0" rIns="0" bIns="0" rtlCol="0" anchor="ctr"/>
          <a:lstStyle/>
          <a:p>
            <a:pPr indent="0" marL="0">
              <a:buNone/>
            </a:pPr>
            <a:r>
              <a:rPr lang="en-US" sz="1300" dirty="0">
                <a:solidFill>
                  <a:schemeClr val="accent3"/>
                </a:solidFill>
              </a:rPr>
              <a:t>per-field accuracy and ECE reported</a:t>
            </a:r>
            <a:endParaRPr lang="en-US" sz="1300" dirty="0"/>
          </a:p>
        </p:txBody>
      </p:sp>
      <p:sp>
        <p:nvSpPr>
          <p:cNvPr id="19" name="Text 17"/>
          <p:cNvSpPr txBox="1"/>
          <p:nvPr/>
        </p:nvSpPr>
        <p:spPr>
          <a:xfrm>
            <a:off x="548640" y="4544568"/>
            <a:ext cx="640080" cy="54864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O5</a:t>
            </a:r>
            <a:endParaRPr lang="en-US" sz="2000" dirty="0"/>
          </a:p>
        </p:txBody>
      </p:sp>
      <p:sp>
        <p:nvSpPr>
          <p:cNvPr id="20" name="Text 18"/>
          <p:cNvSpPr txBox="1"/>
          <p:nvPr/>
        </p:nvSpPr>
        <p:spPr>
          <a:xfrm>
            <a:off x="1234440" y="4544568"/>
            <a:ext cx="5120640" cy="548640"/>
          </a:xfrm>
          <a:prstGeom prst="rect">
            <a:avLst/>
          </a:prstGeom>
          <a:noFill/>
          <a:ln/>
        </p:spPr>
        <p:txBody>
          <a:bodyPr wrap="square" lIns="0" tIns="0" rIns="0" bIns="0" rtlCol="0" anchor="ctr"/>
          <a:lstStyle/>
          <a:p>
            <a:pPr indent="0" marL="0">
              <a:buNone/>
            </a:pPr>
            <a:r>
              <a:rPr lang="en-US" sz="1600" dirty="0">
                <a:solidFill>
                  <a:schemeClr val="tx1"/>
                </a:solidFill>
              </a:rPr>
              <a:t>Explanations as exact reasoning paths</a:t>
            </a:r>
            <a:endParaRPr lang="en-US" sz="1600" dirty="0"/>
          </a:p>
        </p:txBody>
      </p:sp>
      <p:sp>
        <p:nvSpPr>
          <p:cNvPr id="21" name="chip-runs"/>
          <p:cNvSpPr txBox="1"/>
          <p:nvPr/>
        </p:nvSpPr>
        <p:spPr>
          <a:xfrm>
            <a:off x="6492240" y="4672584"/>
            <a:ext cx="1828800" cy="292608"/>
          </a:xfrm>
          <a:prstGeom prst="roundRect">
            <a:avLst>
              <a:gd name="adj" fmla="val 15625"/>
            </a:avLst>
          </a:prstGeom>
          <a:solidFill>
            <a:schemeClr val="accent1"/>
          </a:solidFill>
          <a:ln/>
        </p:spPr>
        <p:txBody>
          <a:bodyPr wrap="square" lIns="0" tIns="0" rIns="0" bIns="0" rtlCol="0" anchor="ctr"/>
          <a:lstStyle/>
          <a:p>
            <a:pPr algn="ctr" indent="0" marL="0">
              <a:buNone/>
            </a:pPr>
            <a:r>
              <a:rPr lang="en-US" sz="1100" b="1" dirty="0">
                <a:solidFill>
                  <a:schemeClr val="bg1"/>
                </a:solidFill>
              </a:rPr>
              <a:t>Runs today</a:t>
            </a:r>
            <a:endParaRPr lang="en-US" sz="1100" dirty="0"/>
          </a:p>
        </p:txBody>
      </p:sp>
      <p:sp>
        <p:nvSpPr>
          <p:cNvPr id="22" name="Text 20"/>
          <p:cNvSpPr txBox="1"/>
          <p:nvPr/>
        </p:nvSpPr>
        <p:spPr>
          <a:xfrm>
            <a:off x="8503920" y="4544568"/>
            <a:ext cx="3200400" cy="548640"/>
          </a:xfrm>
          <a:prstGeom prst="rect">
            <a:avLst/>
          </a:prstGeom>
          <a:noFill/>
          <a:ln/>
        </p:spPr>
        <p:txBody>
          <a:bodyPr wrap="square" lIns="0" tIns="0" rIns="0" bIns="0" rtlCol="0" anchor="ctr"/>
          <a:lstStyle/>
          <a:p>
            <a:pPr indent="0" marL="0">
              <a:buNone/>
            </a:pPr>
            <a:r>
              <a:rPr lang="en-US" sz="1300" dirty="0">
                <a:solidFill>
                  <a:schemeClr val="accent3"/>
                </a:solidFill>
              </a:rPr>
              <a:t>identical claims across three audiences, tested</a:t>
            </a:r>
            <a:endParaRPr lang="en-US" sz="1300" dirty="0"/>
          </a:p>
        </p:txBody>
      </p:sp>
      <p:sp>
        <p:nvSpPr>
          <p:cNvPr id="23" name="Text 21"/>
          <p:cNvSpPr txBox="1"/>
          <p:nvPr/>
        </p:nvSpPr>
        <p:spPr>
          <a:xfrm>
            <a:off x="548640" y="5349240"/>
            <a:ext cx="640080" cy="54864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O6</a:t>
            </a:r>
            <a:endParaRPr lang="en-US" sz="2000" dirty="0"/>
          </a:p>
        </p:txBody>
      </p:sp>
      <p:sp>
        <p:nvSpPr>
          <p:cNvPr id="24" name="Text 22"/>
          <p:cNvSpPr txBox="1"/>
          <p:nvPr/>
        </p:nvSpPr>
        <p:spPr>
          <a:xfrm>
            <a:off x="1234440" y="5349240"/>
            <a:ext cx="5120640" cy="548640"/>
          </a:xfrm>
          <a:prstGeom prst="rect">
            <a:avLst/>
          </a:prstGeom>
          <a:noFill/>
          <a:ln/>
        </p:spPr>
        <p:txBody>
          <a:bodyPr wrap="square" lIns="0" tIns="0" rIns="0" bIns="0" rtlCol="0" anchor="ctr"/>
          <a:lstStyle/>
          <a:p>
            <a:pPr indent="0" marL="0">
              <a:buNone/>
            </a:pPr>
            <a:r>
              <a:rPr lang="en-US" sz="1600" dirty="0">
                <a:solidFill>
                  <a:schemeClr val="tx1"/>
                </a:solidFill>
              </a:rPr>
              <a:t>Governed multi-account AWS with cost controls</a:t>
            </a:r>
            <a:endParaRPr lang="en-US" sz="1600" dirty="0"/>
          </a:p>
        </p:txBody>
      </p:sp>
      <p:sp>
        <p:nvSpPr>
          <p:cNvPr id="25" name="chip-authored"/>
          <p:cNvSpPr txBox="1"/>
          <p:nvPr/>
        </p:nvSpPr>
        <p:spPr>
          <a:xfrm>
            <a:off x="6492240" y="5477256"/>
            <a:ext cx="1828800" cy="292608"/>
          </a:xfrm>
          <a:prstGeom prst="roundRect">
            <a:avLst>
              <a:gd name="adj" fmla="val 15625"/>
            </a:avLst>
          </a:prstGeom>
          <a:solidFill>
            <a:schemeClr val="accent3"/>
          </a:solidFill>
          <a:ln/>
        </p:spPr>
        <p:txBody>
          <a:bodyPr wrap="square" lIns="0" tIns="0" rIns="0" bIns="0" rtlCol="0" anchor="ctr"/>
          <a:lstStyle/>
          <a:p>
            <a:pPr algn="ctr" indent="0" marL="0">
              <a:buNone/>
            </a:pPr>
            <a:r>
              <a:rPr lang="en-US" sz="1100" b="1" dirty="0">
                <a:solidFill>
                  <a:schemeClr val="bg1"/>
                </a:solidFill>
              </a:rPr>
              <a:t>Terraform authored</a:t>
            </a:r>
            <a:endParaRPr lang="en-US" sz="1100" dirty="0"/>
          </a:p>
        </p:txBody>
      </p:sp>
      <p:sp>
        <p:nvSpPr>
          <p:cNvPr id="26" name="Text 24"/>
          <p:cNvSpPr txBox="1"/>
          <p:nvPr/>
        </p:nvSpPr>
        <p:spPr>
          <a:xfrm>
            <a:off x="8503920" y="5349240"/>
            <a:ext cx="3200400" cy="548640"/>
          </a:xfrm>
          <a:prstGeom prst="rect">
            <a:avLst/>
          </a:prstGeom>
          <a:noFill/>
          <a:ln/>
        </p:spPr>
        <p:txBody>
          <a:bodyPr wrap="square" lIns="0" tIns="0" rIns="0" bIns="0" rtlCol="0" anchor="ctr"/>
          <a:lstStyle/>
          <a:p>
            <a:pPr indent="0" marL="0">
              <a:buNone/>
            </a:pPr>
            <a:r>
              <a:rPr lang="en-US" sz="1300" dirty="0">
                <a:solidFill>
                  <a:schemeClr val="accent3"/>
                </a:solidFill>
              </a:rPr>
              <a:t>Terraform written and validated by the real binary</a:t>
            </a:r>
            <a:endParaRPr lang="en-US" sz="13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What we built, in numbers</a:t>
            </a:r>
            <a:endParaRPr lang="en-US" sz="3000" dirty="0"/>
          </a:p>
        </p:txBody>
      </p:sp>
      <p:sp>
        <p:nvSpPr>
          <p:cNvPr id="3" name="build-stat-0"/>
          <p:cNvSpPr/>
          <p:nvPr/>
        </p:nvSpPr>
        <p:spPr>
          <a:xfrm>
            <a:off x="548640" y="1371600"/>
            <a:ext cx="2606040" cy="2240280"/>
          </a:xfrm>
          <a:prstGeom prst="rect">
            <a:avLst/>
          </a:prstGeom>
          <a:solidFill>
            <a:schemeClr val="bg2"/>
          </a:solidFill>
          <a:ln w="12700">
            <a:solidFill>
              <a:schemeClr val="bg2"/>
            </a:solidFill>
            <a:prstDash val="solid"/>
          </a:ln>
        </p:spPr>
      </p:sp>
      <p:sp>
        <p:nvSpPr>
          <p:cNvPr id="4" name="Text 2"/>
          <p:cNvSpPr txBox="1"/>
          <p:nvPr/>
        </p:nvSpPr>
        <p:spPr>
          <a:xfrm>
            <a:off x="731520" y="1508760"/>
            <a:ext cx="2286000" cy="822960"/>
          </a:xfrm>
          <a:prstGeom prst="rect">
            <a:avLst/>
          </a:prstGeom>
          <a:noFill/>
          <a:ln/>
        </p:spPr>
        <p:txBody>
          <a:bodyPr wrap="square" lIns="0" tIns="0" rIns="0" bIns="0" rtlCol="0" anchor="ctr"/>
          <a:lstStyle/>
          <a:p>
            <a:pPr indent="0" marL="0">
              <a:buNone/>
            </a:pPr>
            <a:r>
              <a:rPr lang="en-US" sz="4200" b="1" dirty="0">
                <a:solidFill>
                  <a:schemeClr val="accent1"/>
                </a:solidFill>
                <a:latin typeface="Cambria" pitchFamily="34" charset="0"/>
                <a:ea typeface="Cambria" pitchFamily="34" charset="-122"/>
                <a:cs typeface="Cambria" pitchFamily="34" charset="-120"/>
              </a:rPr>
              <a:t>474</a:t>
            </a:r>
            <a:endParaRPr lang="en-US" sz="4200" dirty="0"/>
          </a:p>
        </p:txBody>
      </p:sp>
      <p:sp>
        <p:nvSpPr>
          <p:cNvPr id="5" name="Text 3"/>
          <p:cNvSpPr txBox="1"/>
          <p:nvPr/>
        </p:nvSpPr>
        <p:spPr>
          <a:xfrm>
            <a:off x="731520" y="2377440"/>
            <a:ext cx="2286000" cy="1143000"/>
          </a:xfrm>
          <a:prstGeom prst="rect">
            <a:avLst/>
          </a:prstGeom>
          <a:noFill/>
          <a:ln/>
        </p:spPr>
        <p:txBody>
          <a:bodyPr wrap="square" lIns="0" tIns="0" rIns="0" bIns="0" rtlCol="0" anchor="t"/>
          <a:lstStyle/>
          <a:p>
            <a:pPr indent="0" marL="0">
              <a:buNone/>
            </a:pPr>
            <a:r>
              <a:rPr lang="en-US" sz="1300" dirty="0">
                <a:solidFill>
                  <a:schemeClr val="tx1"/>
                </a:solidFill>
              </a:rPr>
              <a:t>tests passing, with ruff and mypy clean across 82 typed source files</a:t>
            </a:r>
            <a:endParaRPr lang="en-US" sz="1300" dirty="0"/>
          </a:p>
        </p:txBody>
      </p:sp>
      <p:sp>
        <p:nvSpPr>
          <p:cNvPr id="6" name="build-stat-1"/>
          <p:cNvSpPr/>
          <p:nvPr/>
        </p:nvSpPr>
        <p:spPr>
          <a:xfrm>
            <a:off x="3337560" y="1371600"/>
            <a:ext cx="2606040" cy="2240280"/>
          </a:xfrm>
          <a:prstGeom prst="rect">
            <a:avLst/>
          </a:prstGeom>
          <a:solidFill>
            <a:schemeClr val="bg2"/>
          </a:solidFill>
          <a:ln w="12700">
            <a:solidFill>
              <a:schemeClr val="bg2"/>
            </a:solidFill>
            <a:prstDash val="solid"/>
          </a:ln>
        </p:spPr>
      </p:sp>
      <p:sp>
        <p:nvSpPr>
          <p:cNvPr id="7" name="Text 5"/>
          <p:cNvSpPr txBox="1"/>
          <p:nvPr/>
        </p:nvSpPr>
        <p:spPr>
          <a:xfrm>
            <a:off x="3520440" y="1508760"/>
            <a:ext cx="2286000" cy="822960"/>
          </a:xfrm>
          <a:prstGeom prst="rect">
            <a:avLst/>
          </a:prstGeom>
          <a:noFill/>
          <a:ln/>
        </p:spPr>
        <p:txBody>
          <a:bodyPr wrap="square" lIns="0" tIns="0" rIns="0" bIns="0" rtlCol="0" anchor="ctr"/>
          <a:lstStyle/>
          <a:p>
            <a:pPr indent="0" marL="0">
              <a:buNone/>
            </a:pPr>
            <a:r>
              <a:rPr lang="en-US" sz="4200" b="1" dirty="0">
                <a:solidFill>
                  <a:schemeClr val="accent1"/>
                </a:solidFill>
                <a:latin typeface="Cambria" pitchFamily="34" charset="0"/>
                <a:ea typeface="Cambria" pitchFamily="34" charset="-122"/>
                <a:cs typeface="Cambria" pitchFamily="34" charset="-120"/>
              </a:rPr>
              <a:t>130+</a:t>
            </a:r>
            <a:endParaRPr lang="en-US" sz="4200" dirty="0"/>
          </a:p>
        </p:txBody>
      </p:sp>
      <p:sp>
        <p:nvSpPr>
          <p:cNvPr id="8" name="Text 6"/>
          <p:cNvSpPr txBox="1"/>
          <p:nvPr/>
        </p:nvSpPr>
        <p:spPr>
          <a:xfrm>
            <a:off x="3520440" y="2377440"/>
            <a:ext cx="2286000" cy="1143000"/>
          </a:xfrm>
          <a:prstGeom prst="rect">
            <a:avLst/>
          </a:prstGeom>
          <a:noFill/>
          <a:ln/>
        </p:spPr>
        <p:txBody>
          <a:bodyPr wrap="square" lIns="0" tIns="0" rIns="0" bIns="0" rtlCol="0" anchor="t"/>
          <a:lstStyle/>
          <a:p>
            <a:pPr indent="0" marL="0">
              <a:buNone/>
            </a:pPr>
            <a:r>
              <a:rPr lang="en-US" sz="1300" dirty="0">
                <a:solidFill>
                  <a:schemeClr val="tx1"/>
                </a:solidFill>
              </a:rPr>
              <a:t>commits, one logical change each</a:t>
            </a:r>
            <a:endParaRPr lang="en-US" sz="1300" dirty="0"/>
          </a:p>
        </p:txBody>
      </p:sp>
      <p:sp>
        <p:nvSpPr>
          <p:cNvPr id="9" name="build-stat-2"/>
          <p:cNvSpPr/>
          <p:nvPr/>
        </p:nvSpPr>
        <p:spPr>
          <a:xfrm>
            <a:off x="6126480" y="1371600"/>
            <a:ext cx="2606040" cy="2240280"/>
          </a:xfrm>
          <a:prstGeom prst="rect">
            <a:avLst/>
          </a:prstGeom>
          <a:solidFill>
            <a:schemeClr val="bg2"/>
          </a:solidFill>
          <a:ln w="12700">
            <a:solidFill>
              <a:schemeClr val="bg2"/>
            </a:solidFill>
            <a:prstDash val="solid"/>
          </a:ln>
        </p:spPr>
      </p:sp>
      <p:sp>
        <p:nvSpPr>
          <p:cNvPr id="10" name="Text 8"/>
          <p:cNvSpPr txBox="1"/>
          <p:nvPr/>
        </p:nvSpPr>
        <p:spPr>
          <a:xfrm>
            <a:off x="6309360" y="1508760"/>
            <a:ext cx="2286000" cy="822960"/>
          </a:xfrm>
          <a:prstGeom prst="rect">
            <a:avLst/>
          </a:prstGeom>
          <a:noFill/>
          <a:ln/>
        </p:spPr>
        <p:txBody>
          <a:bodyPr wrap="square" lIns="0" tIns="0" rIns="0" bIns="0" rtlCol="0" anchor="ctr"/>
          <a:lstStyle/>
          <a:p>
            <a:pPr indent="0" marL="0">
              <a:buNone/>
            </a:pPr>
            <a:r>
              <a:rPr lang="en-US" sz="4200" b="1" dirty="0">
                <a:solidFill>
                  <a:schemeClr val="accent1"/>
                </a:solidFill>
                <a:latin typeface="Cambria" pitchFamily="34" charset="0"/>
                <a:ea typeface="Cambria" pitchFamily="34" charset="-122"/>
                <a:cs typeface="Cambria" pitchFamily="34" charset="-120"/>
              </a:rPr>
              <a:t>13,000</a:t>
            </a:r>
            <a:endParaRPr lang="en-US" sz="4200" dirty="0"/>
          </a:p>
        </p:txBody>
      </p:sp>
      <p:sp>
        <p:nvSpPr>
          <p:cNvPr id="11" name="Text 9"/>
          <p:cNvSpPr txBox="1"/>
          <p:nvPr/>
        </p:nvSpPr>
        <p:spPr>
          <a:xfrm>
            <a:off x="6309360" y="2377440"/>
            <a:ext cx="2286000" cy="1143000"/>
          </a:xfrm>
          <a:prstGeom prst="rect">
            <a:avLst/>
          </a:prstGeom>
          <a:noFill/>
          <a:ln/>
        </p:spPr>
        <p:txBody>
          <a:bodyPr wrap="square" lIns="0" tIns="0" rIns="0" bIns="0" rtlCol="0" anchor="t"/>
          <a:lstStyle/>
          <a:p>
            <a:pPr indent="0" marL="0">
              <a:buNone/>
            </a:pPr>
            <a:r>
              <a:rPr lang="en-US" sz="1300" dirty="0">
                <a:solidFill>
                  <a:schemeClr val="tx1"/>
                </a:solidFill>
              </a:rPr>
              <a:t>lines of Python in the product, plus 2,400 lines of dashboard code</a:t>
            </a:r>
            <a:endParaRPr lang="en-US" sz="1300" dirty="0"/>
          </a:p>
        </p:txBody>
      </p:sp>
      <p:sp>
        <p:nvSpPr>
          <p:cNvPr id="12" name="build-stat-3"/>
          <p:cNvSpPr/>
          <p:nvPr/>
        </p:nvSpPr>
        <p:spPr>
          <a:xfrm>
            <a:off x="8915400" y="1371600"/>
            <a:ext cx="2606040" cy="2240280"/>
          </a:xfrm>
          <a:prstGeom prst="rect">
            <a:avLst/>
          </a:prstGeom>
          <a:solidFill>
            <a:schemeClr val="bg2"/>
          </a:solidFill>
          <a:ln w="12700">
            <a:solidFill>
              <a:schemeClr val="bg2"/>
            </a:solidFill>
            <a:prstDash val="solid"/>
          </a:ln>
        </p:spPr>
      </p:sp>
      <p:sp>
        <p:nvSpPr>
          <p:cNvPr id="13" name="Text 11"/>
          <p:cNvSpPr txBox="1"/>
          <p:nvPr/>
        </p:nvSpPr>
        <p:spPr>
          <a:xfrm>
            <a:off x="9098280" y="1508760"/>
            <a:ext cx="2286000" cy="822960"/>
          </a:xfrm>
          <a:prstGeom prst="rect">
            <a:avLst/>
          </a:prstGeom>
          <a:noFill/>
          <a:ln/>
        </p:spPr>
        <p:txBody>
          <a:bodyPr wrap="square" lIns="0" tIns="0" rIns="0" bIns="0" rtlCol="0" anchor="ctr"/>
          <a:lstStyle/>
          <a:p>
            <a:pPr indent="0" marL="0">
              <a:buNone/>
            </a:pPr>
            <a:r>
              <a:rPr lang="en-US" sz="4200" b="1" dirty="0">
                <a:solidFill>
                  <a:schemeClr val="accent1"/>
                </a:solidFill>
                <a:latin typeface="Cambria" pitchFamily="34" charset="0"/>
                <a:ea typeface="Cambria" pitchFamily="34" charset="-122"/>
                <a:cs typeface="Cambria" pitchFamily="34" charset="-120"/>
              </a:rPr>
              <a:t>16</a:t>
            </a:r>
            <a:endParaRPr lang="en-US" sz="4200" dirty="0"/>
          </a:p>
        </p:txBody>
      </p:sp>
      <p:sp>
        <p:nvSpPr>
          <p:cNvPr id="14" name="Text 12"/>
          <p:cNvSpPr txBox="1"/>
          <p:nvPr/>
        </p:nvSpPr>
        <p:spPr>
          <a:xfrm>
            <a:off x="9098280" y="2377440"/>
            <a:ext cx="2286000" cy="1143000"/>
          </a:xfrm>
          <a:prstGeom prst="rect">
            <a:avLst/>
          </a:prstGeom>
          <a:noFill/>
          <a:ln/>
        </p:spPr>
        <p:txBody>
          <a:bodyPr wrap="square" lIns="0" tIns="0" rIns="0" bIns="0" rtlCol="0" anchor="t"/>
          <a:lstStyle/>
          <a:p>
            <a:pPr indent="0" marL="0">
              <a:buNone/>
            </a:pPr>
            <a:r>
              <a:rPr lang="en-US" sz="1300" dirty="0">
                <a:solidFill>
                  <a:schemeClr val="tx1"/>
                </a:solidFill>
              </a:rPr>
              <a:t>dashboard pages, every one screenshotted in this deck</a:t>
            </a:r>
            <a:endParaRPr lang="en-US" sz="1300" dirty="0"/>
          </a:p>
        </p:txBody>
      </p:sp>
      <p:sp>
        <p:nvSpPr>
          <p:cNvPr id="15" name="build-stat-4"/>
          <p:cNvSpPr/>
          <p:nvPr/>
        </p:nvSpPr>
        <p:spPr>
          <a:xfrm>
            <a:off x="548640" y="3840480"/>
            <a:ext cx="2606040" cy="2240280"/>
          </a:xfrm>
          <a:prstGeom prst="rect">
            <a:avLst/>
          </a:prstGeom>
          <a:solidFill>
            <a:schemeClr val="bg2"/>
          </a:solidFill>
          <a:ln w="12700">
            <a:solidFill>
              <a:schemeClr val="bg2"/>
            </a:solidFill>
            <a:prstDash val="solid"/>
          </a:ln>
        </p:spPr>
      </p:sp>
      <p:sp>
        <p:nvSpPr>
          <p:cNvPr id="16" name="Text 14"/>
          <p:cNvSpPr txBox="1"/>
          <p:nvPr/>
        </p:nvSpPr>
        <p:spPr>
          <a:xfrm>
            <a:off x="731520" y="3977640"/>
            <a:ext cx="2286000" cy="822960"/>
          </a:xfrm>
          <a:prstGeom prst="rect">
            <a:avLst/>
          </a:prstGeom>
          <a:noFill/>
          <a:ln/>
        </p:spPr>
        <p:txBody>
          <a:bodyPr wrap="square" lIns="0" tIns="0" rIns="0" bIns="0" rtlCol="0" anchor="ctr"/>
          <a:lstStyle/>
          <a:p>
            <a:pPr indent="0" marL="0">
              <a:buNone/>
            </a:pPr>
            <a:r>
              <a:rPr lang="en-US" sz="4200" b="1" dirty="0">
                <a:solidFill>
                  <a:schemeClr val="accent1"/>
                </a:solidFill>
                <a:latin typeface="Cambria" pitchFamily="34" charset="0"/>
                <a:ea typeface="Cambria" pitchFamily="34" charset="-122"/>
                <a:cs typeface="Cambria" pitchFamily="34" charset="-120"/>
              </a:rPr>
              <a:t>9</a:t>
            </a:r>
            <a:endParaRPr lang="en-US" sz="4200" dirty="0"/>
          </a:p>
        </p:txBody>
      </p:sp>
      <p:sp>
        <p:nvSpPr>
          <p:cNvPr id="17" name="Text 15"/>
          <p:cNvSpPr txBox="1"/>
          <p:nvPr/>
        </p:nvSpPr>
        <p:spPr>
          <a:xfrm>
            <a:off x="731520" y="4846320"/>
            <a:ext cx="2286000" cy="1143000"/>
          </a:xfrm>
          <a:prstGeom prst="rect">
            <a:avLst/>
          </a:prstGeom>
          <a:noFill/>
          <a:ln/>
        </p:spPr>
        <p:txBody>
          <a:bodyPr wrap="square" lIns="0" tIns="0" rIns="0" bIns="0" rtlCol="0" anchor="t"/>
          <a:lstStyle/>
          <a:p>
            <a:pPr indent="0" marL="0">
              <a:buNone/>
            </a:pPr>
            <a:r>
              <a:rPr lang="en-US" sz="1300" dirty="0">
                <a:solidFill>
                  <a:schemeClr val="tx1"/>
                </a:solidFill>
              </a:rPr>
              <a:t>CLI commands, from reproducibility to plan and apply</a:t>
            </a:r>
            <a:endParaRPr lang="en-US" sz="1300" dirty="0"/>
          </a:p>
        </p:txBody>
      </p:sp>
      <p:sp>
        <p:nvSpPr>
          <p:cNvPr id="18" name="build-stat-5"/>
          <p:cNvSpPr/>
          <p:nvPr/>
        </p:nvSpPr>
        <p:spPr>
          <a:xfrm>
            <a:off x="3337560" y="3840480"/>
            <a:ext cx="2606040" cy="2240280"/>
          </a:xfrm>
          <a:prstGeom prst="rect">
            <a:avLst/>
          </a:prstGeom>
          <a:solidFill>
            <a:schemeClr val="bg2"/>
          </a:solidFill>
          <a:ln w="12700">
            <a:solidFill>
              <a:schemeClr val="bg2"/>
            </a:solidFill>
            <a:prstDash val="solid"/>
          </a:ln>
        </p:spPr>
      </p:sp>
      <p:sp>
        <p:nvSpPr>
          <p:cNvPr id="19" name="Text 17"/>
          <p:cNvSpPr txBox="1"/>
          <p:nvPr/>
        </p:nvSpPr>
        <p:spPr>
          <a:xfrm>
            <a:off x="3520440" y="3977640"/>
            <a:ext cx="2286000" cy="822960"/>
          </a:xfrm>
          <a:prstGeom prst="rect">
            <a:avLst/>
          </a:prstGeom>
          <a:noFill/>
          <a:ln/>
        </p:spPr>
        <p:txBody>
          <a:bodyPr wrap="square" lIns="0" tIns="0" rIns="0" bIns="0" rtlCol="0" anchor="ctr"/>
          <a:lstStyle/>
          <a:p>
            <a:pPr indent="0" marL="0">
              <a:buNone/>
            </a:pPr>
            <a:r>
              <a:rPr lang="en-US" sz="4200" b="1" dirty="0">
                <a:solidFill>
                  <a:schemeClr val="accent1"/>
                </a:solidFill>
                <a:latin typeface="Cambria" pitchFamily="34" charset="0"/>
                <a:ea typeface="Cambria" pitchFamily="34" charset="-122"/>
                <a:cs typeface="Cambria" pitchFamily="34" charset="-120"/>
              </a:rPr>
              <a:t>9</a:t>
            </a:r>
            <a:endParaRPr lang="en-US" sz="4200" dirty="0"/>
          </a:p>
        </p:txBody>
      </p:sp>
      <p:sp>
        <p:nvSpPr>
          <p:cNvPr id="20" name="Text 18"/>
          <p:cNvSpPr txBox="1"/>
          <p:nvPr/>
        </p:nvSpPr>
        <p:spPr>
          <a:xfrm>
            <a:off x="3520440" y="4846320"/>
            <a:ext cx="2286000" cy="1143000"/>
          </a:xfrm>
          <a:prstGeom prst="rect">
            <a:avLst/>
          </a:prstGeom>
          <a:noFill/>
          <a:ln/>
        </p:spPr>
        <p:txBody>
          <a:bodyPr wrap="square" lIns="0" tIns="0" rIns="0" bIns="0" rtlCol="0" anchor="t"/>
          <a:lstStyle/>
          <a:p>
            <a:pPr indent="0" marL="0">
              <a:buNone/>
            </a:pPr>
            <a:r>
              <a:rPr lang="en-US" sz="1300" dirty="0">
                <a:solidFill>
                  <a:schemeClr val="tx1"/>
                </a:solidFill>
              </a:rPr>
              <a:t>seeded defect variants across seven defect classes</a:t>
            </a:r>
            <a:endParaRPr lang="en-US" sz="1300" dirty="0"/>
          </a:p>
        </p:txBody>
      </p:sp>
      <p:sp>
        <p:nvSpPr>
          <p:cNvPr id="21" name="build-stat-6"/>
          <p:cNvSpPr/>
          <p:nvPr/>
        </p:nvSpPr>
        <p:spPr>
          <a:xfrm>
            <a:off x="6126480" y="3840480"/>
            <a:ext cx="2606040" cy="2240280"/>
          </a:xfrm>
          <a:prstGeom prst="rect">
            <a:avLst/>
          </a:prstGeom>
          <a:solidFill>
            <a:schemeClr val="bg2"/>
          </a:solidFill>
          <a:ln w="12700">
            <a:solidFill>
              <a:schemeClr val="bg2"/>
            </a:solidFill>
            <a:prstDash val="solid"/>
          </a:ln>
        </p:spPr>
      </p:sp>
      <p:sp>
        <p:nvSpPr>
          <p:cNvPr id="22" name="Text 20"/>
          <p:cNvSpPr txBox="1"/>
          <p:nvPr/>
        </p:nvSpPr>
        <p:spPr>
          <a:xfrm>
            <a:off x="6309360" y="3977640"/>
            <a:ext cx="2286000" cy="822960"/>
          </a:xfrm>
          <a:prstGeom prst="rect">
            <a:avLst/>
          </a:prstGeom>
          <a:noFill/>
          <a:ln/>
        </p:spPr>
        <p:txBody>
          <a:bodyPr wrap="square" lIns="0" tIns="0" rIns="0" bIns="0" rtlCol="0" anchor="ctr"/>
          <a:lstStyle/>
          <a:p>
            <a:pPr indent="0" marL="0">
              <a:buNone/>
            </a:pPr>
            <a:r>
              <a:rPr lang="en-US" sz="4200" b="1" dirty="0">
                <a:solidFill>
                  <a:schemeClr val="accent1"/>
                </a:solidFill>
                <a:latin typeface="Cambria" pitchFamily="34" charset="0"/>
                <a:ea typeface="Cambria" pitchFamily="34" charset="-122"/>
                <a:cs typeface="Cambria" pitchFamily="34" charset="-120"/>
              </a:rPr>
              <a:t>8</a:t>
            </a:r>
            <a:endParaRPr lang="en-US" sz="4200" dirty="0"/>
          </a:p>
        </p:txBody>
      </p:sp>
      <p:sp>
        <p:nvSpPr>
          <p:cNvPr id="23" name="Text 21"/>
          <p:cNvSpPr txBox="1"/>
          <p:nvPr/>
        </p:nvSpPr>
        <p:spPr>
          <a:xfrm>
            <a:off x="6309360" y="4846320"/>
            <a:ext cx="2286000" cy="1143000"/>
          </a:xfrm>
          <a:prstGeom prst="rect">
            <a:avLst/>
          </a:prstGeom>
          <a:noFill/>
          <a:ln/>
        </p:spPr>
        <p:txBody>
          <a:bodyPr wrap="square" lIns="0" tIns="0" rIns="0" bIns="0" rtlCol="0" anchor="t"/>
          <a:lstStyle/>
          <a:p>
            <a:pPr indent="0" marL="0">
              <a:buNone/>
            </a:pPr>
            <a:r>
              <a:rPr lang="en-US" sz="1300" dirty="0">
                <a:solidFill>
                  <a:schemeClr val="tx1"/>
                </a:solidFill>
              </a:rPr>
              <a:t>specification documents, FD-01 to FD-08, behind the design</a:t>
            </a:r>
            <a:endParaRPr lang="en-US" sz="1300" dirty="0"/>
          </a:p>
        </p:txBody>
      </p:sp>
      <p:sp>
        <p:nvSpPr>
          <p:cNvPr id="24" name="build-stat-7"/>
          <p:cNvSpPr/>
          <p:nvPr/>
        </p:nvSpPr>
        <p:spPr>
          <a:xfrm>
            <a:off x="8915400" y="3840480"/>
            <a:ext cx="2606040" cy="2240280"/>
          </a:xfrm>
          <a:prstGeom prst="rect">
            <a:avLst/>
          </a:prstGeom>
          <a:solidFill>
            <a:schemeClr val="bg2"/>
          </a:solidFill>
          <a:ln w="12700">
            <a:solidFill>
              <a:schemeClr val="bg2"/>
            </a:solidFill>
            <a:prstDash val="solid"/>
          </a:ln>
        </p:spPr>
      </p:sp>
      <p:sp>
        <p:nvSpPr>
          <p:cNvPr id="25" name="Text 23"/>
          <p:cNvSpPr txBox="1"/>
          <p:nvPr/>
        </p:nvSpPr>
        <p:spPr>
          <a:xfrm>
            <a:off x="9098280" y="3977640"/>
            <a:ext cx="2286000" cy="822960"/>
          </a:xfrm>
          <a:prstGeom prst="rect">
            <a:avLst/>
          </a:prstGeom>
          <a:noFill/>
          <a:ln/>
        </p:spPr>
        <p:txBody>
          <a:bodyPr wrap="square" lIns="0" tIns="0" rIns="0" bIns="0" rtlCol="0" anchor="ctr"/>
          <a:lstStyle/>
          <a:p>
            <a:pPr indent="0" marL="0">
              <a:buNone/>
            </a:pPr>
            <a:r>
              <a:rPr lang="en-US" sz="4200" b="1" dirty="0">
                <a:solidFill>
                  <a:schemeClr val="accent1"/>
                </a:solidFill>
                <a:latin typeface="Cambria" pitchFamily="34" charset="0"/>
                <a:ea typeface="Cambria" pitchFamily="34" charset="-122"/>
                <a:cs typeface="Cambria" pitchFamily="34" charset="-120"/>
              </a:rPr>
              <a:t>15</a:t>
            </a:r>
            <a:endParaRPr lang="en-US" sz="4200" dirty="0"/>
          </a:p>
        </p:txBody>
      </p:sp>
      <p:sp>
        <p:nvSpPr>
          <p:cNvPr id="26" name="Text 24"/>
          <p:cNvSpPr txBox="1"/>
          <p:nvPr/>
        </p:nvSpPr>
        <p:spPr>
          <a:xfrm>
            <a:off x="9098280" y="4846320"/>
            <a:ext cx="2286000" cy="1143000"/>
          </a:xfrm>
          <a:prstGeom prst="rect">
            <a:avLst/>
          </a:prstGeom>
          <a:noFill/>
          <a:ln/>
        </p:spPr>
        <p:txBody>
          <a:bodyPr wrap="square" lIns="0" tIns="0" rIns="0" bIns="0" rtlCol="0" anchor="t"/>
          <a:lstStyle/>
          <a:p>
            <a:pPr indent="0" marL="0">
              <a:buNone/>
            </a:pPr>
            <a:r>
              <a:rPr lang="en-US" sz="1300" dirty="0">
                <a:solidFill>
                  <a:schemeClr val="tx1"/>
                </a:solidFill>
              </a:rPr>
              <a:t>papers surveyed and verified, each with a research-gap analysis</a:t>
            </a:r>
            <a:endParaRPr lang="en-US" sz="13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Diagram 1: our AWS cloud architecture</a:t>
            </a:r>
            <a:endParaRPr lang="en-US" sz="3000" dirty="0"/>
          </a:p>
        </p:txBody>
      </p:sp>
      <p:pic>
        <p:nvPicPr>
          <p:cNvPr id="3" name="aws-diagram" descr="C:\Projects\KGCR_Cloud_Project_2026\architecture\AWS_Architecture.png">    </p:cNvPr>
          <p:cNvPicPr>
            <a:picLocks noChangeAspect="1"/>
          </p:cNvPicPr>
          <p:nvPr/>
        </p:nvPicPr>
        <p:blipFill>
          <a:blip r:embed="rId1"/>
          <a:stretch>
            <a:fillRect/>
          </a:stretch>
        </p:blipFill>
        <p:spPr>
          <a:xfrm>
            <a:off x="548640" y="1234440"/>
            <a:ext cx="8138160" cy="5102352"/>
          </a:xfrm>
          <a:prstGeom prst="rect">
            <a:avLst/>
          </a:prstGeom>
        </p:spPr>
      </p:pic>
      <p:sp>
        <p:nvSpPr>
          <p:cNvPr id="4" name="chip-planned"/>
          <p:cNvSpPr txBox="1"/>
          <p:nvPr/>
        </p:nvSpPr>
        <p:spPr>
          <a:xfrm>
            <a:off x="9052560" y="1371600"/>
            <a:ext cx="1554480" cy="292608"/>
          </a:xfrm>
          <a:prstGeom prst="roundRect">
            <a:avLst>
              <a:gd name="adj" fmla="val 15625"/>
            </a:avLst>
          </a:prstGeom>
          <a:solidFill>
            <a:schemeClr val="accent6"/>
          </a:solidFill>
          <a:ln/>
        </p:spPr>
        <p:txBody>
          <a:bodyPr wrap="square" lIns="0" tIns="0" rIns="0" bIns="0" rtlCol="0" anchor="ctr"/>
          <a:lstStyle/>
          <a:p>
            <a:pPr algn="ctr" indent="0" marL="0">
              <a:buNone/>
            </a:pPr>
            <a:r>
              <a:rPr lang="en-US" sz="1100" b="1" dirty="0">
                <a:solidFill>
                  <a:schemeClr val="tx1"/>
                </a:solidFill>
              </a:rPr>
              <a:t>Planned</a:t>
            </a:r>
            <a:endParaRPr lang="en-US" sz="1100" dirty="0"/>
          </a:p>
        </p:txBody>
      </p:sp>
      <p:sp>
        <p:nvSpPr>
          <p:cNvPr id="5" name="Text 2"/>
          <p:cNvSpPr txBox="1"/>
          <p:nvPr/>
        </p:nvSpPr>
        <p:spPr>
          <a:xfrm>
            <a:off x="9052560" y="1920240"/>
            <a:ext cx="2651760" cy="4206240"/>
          </a:xfrm>
          <a:prstGeom prst="rect">
            <a:avLst/>
          </a:prstGeom>
          <a:noFill/>
          <a:ln/>
        </p:spPr>
        <p:txBody>
          <a:bodyPr wrap="square" rtlCol="0" anchor="t"/>
          <a:lstStyle/>
          <a:p>
            <a:pPr marL="342900" indent="-342900">
              <a:spcAft>
                <a:spcPts val="800"/>
              </a:spcAft>
              <a:buSzPct val="100000"/>
              <a:buChar char="•"/>
            </a:pPr>
            <a:r>
              <a:rPr lang="en-US" sz="1400" dirty="0">
                <a:solidFill>
                  <a:schemeClr val="tx1"/>
                </a:solidFill>
              </a:rPr>
              <a:t>Three accounts. Evidence from Config, CloudTrail and cost reports lands in S3, and ETL feeds the graph store.</a:t>
            </a:r>
            <a:endParaRPr lang="en-US" sz="1400" dirty="0"/>
          </a:p>
          <a:p>
            <a:pPr marL="342900" indent="-342900">
              <a:spcAft>
                <a:spcPts val="800"/>
              </a:spcAft>
              <a:buSzPct val="100000"/>
              <a:buChar char="•"/>
            </a:pPr>
            <a:r>
              <a:rPr lang="en-US" sz="1400" dirty="0">
                <a:solidFill>
                  <a:schemeClr val="tx1"/>
                </a:solidFill>
              </a:rPr>
              <a:t>Cross-account IAM keeps read-only harvest apart from write-only apply.</a:t>
            </a:r>
            <a:endParaRPr lang="en-US" sz="1400" dirty="0"/>
          </a:p>
          <a:p>
            <a:pPr marL="342900" indent="-342900">
              <a:spcAft>
                <a:spcPts val="800"/>
              </a:spcAft>
              <a:buSzPct val="100000"/>
              <a:buChar char="•"/>
            </a:pPr>
            <a:r>
              <a:rPr lang="en-US" sz="1400" dirty="0">
                <a:solidFill>
                  <a:schemeClr val="tx1"/>
                </a:solidFill>
              </a:rPr>
              <a:t>Already authored as Terraform: IAM, Budgets alarms, the run bucket and topic.</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Diagram 2: our complete system flow</a:t>
            </a:r>
            <a:endParaRPr lang="en-US" sz="3000" dirty="0"/>
          </a:p>
        </p:txBody>
      </p:sp>
      <p:pic>
        <p:nvPicPr>
          <p:cNvPr id="3" name="system-diagram" descr="C:\Projects\KGCR_Cloud_Project_2026\architecture\System_Architecture.png">    </p:cNvPr>
          <p:cNvPicPr>
            <a:picLocks noChangeAspect="1"/>
          </p:cNvPicPr>
          <p:nvPr/>
        </p:nvPicPr>
        <p:blipFill>
          <a:blip r:embed="rId1"/>
          <a:stretch>
            <a:fillRect/>
          </a:stretch>
        </p:blipFill>
        <p:spPr>
          <a:xfrm>
            <a:off x="548640" y="1234440"/>
            <a:ext cx="7068312" cy="5102352"/>
          </a:xfrm>
          <a:prstGeom prst="rect">
            <a:avLst/>
          </a:prstGeom>
        </p:spPr>
      </p:pic>
      <p:sp>
        <p:nvSpPr>
          <p:cNvPr id="4" name="Text 1"/>
          <p:cNvSpPr txBox="1"/>
          <p:nvPr/>
        </p:nvSpPr>
        <p:spPr>
          <a:xfrm>
            <a:off x="8046720" y="1463040"/>
            <a:ext cx="3657600" cy="4572000"/>
          </a:xfrm>
          <a:prstGeom prst="rect">
            <a:avLst/>
          </a:prstGeom>
          <a:noFill/>
          <a:ln/>
        </p:spPr>
        <p:txBody>
          <a:bodyPr wrap="square" rtlCol="0" anchor="t"/>
          <a:lstStyle/>
          <a:p>
            <a:pPr marL="342900" indent="-342900">
              <a:spcAft>
                <a:spcPts val="1000"/>
              </a:spcAft>
              <a:buSzPct val="100000"/>
              <a:buChar char="•"/>
            </a:pPr>
            <a:r>
              <a:rPr lang="en-US" sz="1500" dirty="0">
                <a:solidFill>
                  <a:schemeClr val="tx1"/>
                </a:solidFill>
              </a:rPr>
              <a:t>Two ways in: design from a stated intent, or review an existing estate.</a:t>
            </a:r>
            <a:endParaRPr lang="en-US" sz="1500" dirty="0"/>
          </a:p>
          <a:p>
            <a:pPr marL="342900" indent="-342900">
              <a:spcAft>
                <a:spcPts val="1000"/>
              </a:spcAft>
              <a:buSzPct val="100000"/>
              <a:buChar char="•"/>
            </a:pPr>
            <a:r>
              <a:rPr lang="en-US" sz="1500" dirty="0">
                <a:solidFill>
                  <a:schemeClr val="tx1"/>
                </a:solidFill>
              </a:rPr>
              <a:t>The advisor loop is bounded at three passes and never passes a CRITICAL finding silently.</a:t>
            </a:r>
            <a:endParaRPr lang="en-US" sz="1500" dirty="0"/>
          </a:p>
          <a:p>
            <a:pPr marL="342900" indent="-342900">
              <a:spcAft>
                <a:spcPts val="1000"/>
              </a:spcAft>
              <a:buSzPct val="100000"/>
              <a:buChar char="•"/>
            </a:pPr>
            <a:r>
              <a:rPr lang="en-US" sz="1500" dirty="0">
                <a:solidFill>
                  <a:schemeClr val="tx1"/>
                </a:solidFill>
              </a:rPr>
              <a:t>Review, design, plan and a simulated apply all run today as single commands.</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AWS services: what runs, what is written, what is next</a:t>
            </a:r>
            <a:endParaRPr lang="en-US" sz="3000" dirty="0"/>
          </a:p>
        </p:txBody>
      </p:sp>
      <p:sp>
        <p:nvSpPr>
          <p:cNvPr id="3" name="aws-col-0"/>
          <p:cNvSpPr/>
          <p:nvPr/>
        </p:nvSpPr>
        <p:spPr>
          <a:xfrm>
            <a:off x="548640" y="1371600"/>
            <a:ext cx="3520440" cy="4754880"/>
          </a:xfrm>
          <a:prstGeom prst="rect">
            <a:avLst/>
          </a:prstGeom>
          <a:solidFill>
            <a:schemeClr val="bg2"/>
          </a:solidFill>
          <a:ln w="12700">
            <a:solidFill>
              <a:schemeClr val="bg2"/>
            </a:solidFill>
            <a:prstDash val="solid"/>
          </a:ln>
        </p:spPr>
      </p:sp>
      <p:sp>
        <p:nvSpPr>
          <p:cNvPr id="4" name="chip-stand"/>
          <p:cNvSpPr txBox="1"/>
          <p:nvPr/>
        </p:nvSpPr>
        <p:spPr>
          <a:xfrm>
            <a:off x="731520" y="1554480"/>
            <a:ext cx="2011680" cy="292608"/>
          </a:xfrm>
          <a:prstGeom prst="roundRect">
            <a:avLst>
              <a:gd name="adj" fmla="val 15625"/>
            </a:avLst>
          </a:prstGeom>
          <a:solidFill>
            <a:schemeClr val="accent3"/>
          </a:solidFill>
          <a:ln/>
        </p:spPr>
        <p:txBody>
          <a:bodyPr wrap="square" lIns="0" tIns="0" rIns="0" bIns="0" rtlCol="0" anchor="ctr"/>
          <a:lstStyle/>
          <a:p>
            <a:pPr algn="ctr" indent="0" marL="0">
              <a:buNone/>
            </a:pPr>
            <a:r>
              <a:rPr lang="en-US" sz="1100" b="1" dirty="0">
                <a:solidFill>
                  <a:schemeClr val="bg1"/>
                </a:solidFill>
              </a:rPr>
              <a:t>Local stand-in</a:t>
            </a:r>
            <a:endParaRPr lang="en-US" sz="1100" dirty="0"/>
          </a:p>
        </p:txBody>
      </p:sp>
      <p:sp>
        <p:nvSpPr>
          <p:cNvPr id="5" name="Text 3"/>
          <p:cNvSpPr txBox="1"/>
          <p:nvPr/>
        </p:nvSpPr>
        <p:spPr>
          <a:xfrm>
            <a:off x="731520" y="1965960"/>
            <a:ext cx="3154680" cy="54864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Runs locally today</a:t>
            </a:r>
            <a:endParaRPr lang="en-US" sz="1700" dirty="0"/>
          </a:p>
        </p:txBody>
      </p:sp>
      <p:sp>
        <p:nvSpPr>
          <p:cNvPr id="6" name="Text 4"/>
          <p:cNvSpPr txBox="1"/>
          <p:nvPr/>
        </p:nvSpPr>
        <p:spPr>
          <a:xfrm>
            <a:off x="731520" y="2606040"/>
            <a:ext cx="3154680" cy="3383280"/>
          </a:xfrm>
          <a:prstGeom prst="rect">
            <a:avLst/>
          </a:prstGeom>
          <a:noFill/>
          <a:ln/>
        </p:spPr>
        <p:txBody>
          <a:bodyPr wrap="square" rtlCol="0" anchor="t"/>
          <a:lstStyle/>
          <a:p>
            <a:pPr marL="342900" indent="-342900">
              <a:spcAft>
                <a:spcPts val="800"/>
              </a:spcAft>
              <a:buSzPct val="100000"/>
              <a:buChar char="•"/>
            </a:pPr>
            <a:r>
              <a:rPr lang="en-US" sz="1400" dirty="0">
                <a:solidFill>
                  <a:schemeClr val="tx1"/>
                </a:solidFill>
              </a:rPr>
              <a:t>S3 run bucket: local directory by default</a:t>
            </a:r>
            <a:endParaRPr lang="en-US" sz="1400" dirty="0"/>
          </a:p>
          <a:p>
            <a:pPr marL="342900" indent="-342900">
              <a:spcAft>
                <a:spcPts val="800"/>
              </a:spcAft>
              <a:buSzPct val="100000"/>
              <a:buChar char="•"/>
            </a:pPr>
            <a:r>
              <a:rPr lang="en-US" sz="1400" dirty="0">
                <a:solidFill>
                  <a:schemeClr val="tx1"/>
                </a:solidFill>
              </a:rPr>
              <a:t>SNS: logged notification by default</a:t>
            </a:r>
            <a:endParaRPr lang="en-US" sz="1400" dirty="0"/>
          </a:p>
          <a:p>
            <a:pPr marL="342900" indent="-342900">
              <a:spcAft>
                <a:spcPts val="800"/>
              </a:spcAft>
              <a:buSzPct val="100000"/>
              <a:buChar char="•"/>
            </a:pPr>
            <a:r>
              <a:rPr lang="en-US" sz="1400" dirty="0">
                <a:solidFill>
                  <a:schemeClr val="tx1"/>
                </a:solidFill>
              </a:rPr>
              <a:t>Config harvest: synthetic corpus</a:t>
            </a:r>
            <a:endParaRPr lang="en-US" sz="1400" dirty="0"/>
          </a:p>
          <a:p>
            <a:pPr marL="342900" indent="-342900">
              <a:spcAft>
                <a:spcPts val="800"/>
              </a:spcAft>
              <a:buSzPct val="100000"/>
              <a:buChar char="•"/>
            </a:pPr>
            <a:r>
              <a:rPr lang="en-US" sz="1400" dirty="0">
                <a:solidFill>
                  <a:schemeClr val="tx1"/>
                </a:solidFill>
              </a:rPr>
              <a:t>SageMaker: local scikit-learn</a:t>
            </a:r>
            <a:endParaRPr lang="en-US" sz="1400" dirty="0"/>
          </a:p>
          <a:p>
            <a:pPr marL="342900" indent="-342900">
              <a:spcAft>
                <a:spcPts val="800"/>
              </a:spcAft>
              <a:buSzPct val="100000"/>
              <a:buChar char="•"/>
            </a:pPr>
            <a:r>
              <a:rPr lang="en-US" sz="1400" dirty="0">
                <a:solidFill>
                  <a:schemeClr val="tx1"/>
                </a:solidFill>
              </a:rPr>
              <a:t>Bedrock: Gemini Flash, with fixture replay</a:t>
            </a:r>
            <a:endParaRPr lang="en-US" sz="1400" dirty="0"/>
          </a:p>
        </p:txBody>
      </p:sp>
      <p:sp>
        <p:nvSpPr>
          <p:cNvPr id="7" name="aws-col-1"/>
          <p:cNvSpPr/>
          <p:nvPr/>
        </p:nvSpPr>
        <p:spPr>
          <a:xfrm>
            <a:off x="4297680" y="1371600"/>
            <a:ext cx="3520440" cy="4754880"/>
          </a:xfrm>
          <a:prstGeom prst="rect">
            <a:avLst/>
          </a:prstGeom>
          <a:solidFill>
            <a:schemeClr val="bg2"/>
          </a:solidFill>
          <a:ln w="12700">
            <a:solidFill>
              <a:schemeClr val="bg2"/>
            </a:solidFill>
            <a:prstDash val="solid"/>
          </a:ln>
        </p:spPr>
      </p:sp>
      <p:sp>
        <p:nvSpPr>
          <p:cNvPr id="8" name="chip-authored"/>
          <p:cNvSpPr txBox="1"/>
          <p:nvPr/>
        </p:nvSpPr>
        <p:spPr>
          <a:xfrm>
            <a:off x="4480560" y="1554480"/>
            <a:ext cx="2011680" cy="292608"/>
          </a:xfrm>
          <a:prstGeom prst="roundRect">
            <a:avLst>
              <a:gd name="adj" fmla="val 15625"/>
            </a:avLst>
          </a:prstGeom>
          <a:solidFill>
            <a:schemeClr val="accent3"/>
          </a:solidFill>
          <a:ln/>
        </p:spPr>
        <p:txBody>
          <a:bodyPr wrap="square" lIns="0" tIns="0" rIns="0" bIns="0" rtlCol="0" anchor="ctr"/>
          <a:lstStyle/>
          <a:p>
            <a:pPr algn="ctr" indent="0" marL="0">
              <a:buNone/>
            </a:pPr>
            <a:r>
              <a:rPr lang="en-US" sz="1100" b="1" dirty="0">
                <a:solidFill>
                  <a:schemeClr val="bg1"/>
                </a:solidFill>
              </a:rPr>
              <a:t>Terraform authored</a:t>
            </a:r>
            <a:endParaRPr lang="en-US" sz="1100" dirty="0"/>
          </a:p>
        </p:txBody>
      </p:sp>
      <p:sp>
        <p:nvSpPr>
          <p:cNvPr id="9" name="Text 7"/>
          <p:cNvSpPr txBox="1"/>
          <p:nvPr/>
        </p:nvSpPr>
        <p:spPr>
          <a:xfrm>
            <a:off x="4480560" y="1965960"/>
            <a:ext cx="3154680" cy="54864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Written and validated</a:t>
            </a:r>
            <a:endParaRPr lang="en-US" sz="1700" dirty="0"/>
          </a:p>
        </p:txBody>
      </p:sp>
      <p:sp>
        <p:nvSpPr>
          <p:cNvPr id="10" name="Text 8"/>
          <p:cNvSpPr txBox="1"/>
          <p:nvPr/>
        </p:nvSpPr>
        <p:spPr>
          <a:xfrm>
            <a:off x="4480560" y="2606040"/>
            <a:ext cx="3154680" cy="3383280"/>
          </a:xfrm>
          <a:prstGeom prst="rect">
            <a:avLst/>
          </a:prstGeom>
          <a:noFill/>
          <a:ln/>
        </p:spPr>
        <p:txBody>
          <a:bodyPr wrap="square" rtlCol="0" anchor="t"/>
          <a:lstStyle/>
          <a:p>
            <a:pPr marL="342900" indent="-342900">
              <a:spcAft>
                <a:spcPts val="800"/>
              </a:spcAft>
              <a:buSzPct val="100000"/>
              <a:buChar char="•"/>
            </a:pPr>
            <a:r>
              <a:rPr lang="en-US" sz="1400" dirty="0">
                <a:solidFill>
                  <a:schemeClr val="tx1"/>
                </a:solidFill>
              </a:rPr>
              <a:t>Cross-account IAM roles (harvest and apply)</a:t>
            </a:r>
            <a:endParaRPr lang="en-US" sz="1400" dirty="0"/>
          </a:p>
          <a:p>
            <a:pPr marL="342900" indent="-342900">
              <a:spcAft>
                <a:spcPts val="800"/>
              </a:spcAft>
              <a:buSzPct val="100000"/>
              <a:buChar char="•"/>
            </a:pPr>
            <a:r>
              <a:rPr lang="en-US" sz="1400" dirty="0">
                <a:solidFill>
                  <a:schemeClr val="tx1"/>
                </a:solidFill>
              </a:rPr>
              <a:t>AWS Budgets alarms at 5, 15 and 30 USD</a:t>
            </a:r>
            <a:endParaRPr lang="en-US" sz="1400" dirty="0"/>
          </a:p>
          <a:p>
            <a:pPr marL="342900" indent="-342900">
              <a:spcAft>
                <a:spcPts val="800"/>
              </a:spcAft>
              <a:buSzPct val="100000"/>
              <a:buChar char="•"/>
            </a:pPr>
            <a:r>
              <a:rPr lang="en-US" sz="1400" dirty="0">
                <a:solidFill>
                  <a:schemeClr val="tx1"/>
                </a:solidFill>
              </a:rPr>
              <a:t>S3 run bucket and SNS topic adapters, tested on mocked AWS</a:t>
            </a:r>
            <a:endParaRPr lang="en-US" sz="1400" dirty="0"/>
          </a:p>
          <a:p>
            <a:pPr marL="342900" indent="-342900">
              <a:spcAft>
                <a:spcPts val="800"/>
              </a:spcAft>
              <a:buSzPct val="100000"/>
              <a:buChar char="•"/>
            </a:pPr>
            <a:r>
              <a:rPr lang="en-US" sz="1400" dirty="0">
                <a:solidFill>
                  <a:schemeClr val="tx1"/>
                </a:solidFill>
              </a:rPr>
              <a:t>Terraform validated by the real binary, nine generated estates</a:t>
            </a:r>
            <a:endParaRPr lang="en-US" sz="1400" dirty="0"/>
          </a:p>
        </p:txBody>
      </p:sp>
      <p:sp>
        <p:nvSpPr>
          <p:cNvPr id="11" name="aws-col-2"/>
          <p:cNvSpPr/>
          <p:nvPr/>
        </p:nvSpPr>
        <p:spPr>
          <a:xfrm>
            <a:off x="8046720" y="1371600"/>
            <a:ext cx="3520440" cy="4754880"/>
          </a:xfrm>
          <a:prstGeom prst="rect">
            <a:avLst/>
          </a:prstGeom>
          <a:solidFill>
            <a:schemeClr val="bg2"/>
          </a:solidFill>
          <a:ln w="12700">
            <a:solidFill>
              <a:schemeClr val="bg2"/>
            </a:solidFill>
            <a:prstDash val="solid"/>
          </a:ln>
        </p:spPr>
      </p:sp>
      <p:sp>
        <p:nvSpPr>
          <p:cNvPr id="12" name="chip-planned"/>
          <p:cNvSpPr txBox="1"/>
          <p:nvPr/>
        </p:nvSpPr>
        <p:spPr>
          <a:xfrm>
            <a:off x="8229600" y="1554480"/>
            <a:ext cx="2011680" cy="292608"/>
          </a:xfrm>
          <a:prstGeom prst="roundRect">
            <a:avLst>
              <a:gd name="adj" fmla="val 15625"/>
            </a:avLst>
          </a:prstGeom>
          <a:solidFill>
            <a:schemeClr val="accent6"/>
          </a:solidFill>
          <a:ln/>
        </p:spPr>
        <p:txBody>
          <a:bodyPr wrap="square" lIns="0" tIns="0" rIns="0" bIns="0" rtlCol="0" anchor="ctr"/>
          <a:lstStyle/>
          <a:p>
            <a:pPr algn="ctr" indent="0" marL="0">
              <a:buNone/>
            </a:pPr>
            <a:r>
              <a:rPr lang="en-US" sz="1100" b="1" dirty="0">
                <a:solidFill>
                  <a:schemeClr val="tx1"/>
                </a:solidFill>
              </a:rPr>
              <a:t>Planned</a:t>
            </a:r>
            <a:endParaRPr lang="en-US" sz="1100" dirty="0"/>
          </a:p>
        </p:txBody>
      </p:sp>
      <p:sp>
        <p:nvSpPr>
          <p:cNvPr id="13" name="Text 11"/>
          <p:cNvSpPr txBox="1"/>
          <p:nvPr/>
        </p:nvSpPr>
        <p:spPr>
          <a:xfrm>
            <a:off x="8229600" y="1965960"/>
            <a:ext cx="3154680" cy="54864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Planned for Phase-II</a:t>
            </a:r>
            <a:endParaRPr lang="en-US" sz="1700" dirty="0"/>
          </a:p>
        </p:txBody>
      </p:sp>
      <p:sp>
        <p:nvSpPr>
          <p:cNvPr id="14" name="Text 12"/>
          <p:cNvSpPr txBox="1"/>
          <p:nvPr/>
        </p:nvSpPr>
        <p:spPr>
          <a:xfrm>
            <a:off x="8229600" y="2606040"/>
            <a:ext cx="3154680" cy="3383280"/>
          </a:xfrm>
          <a:prstGeom prst="rect">
            <a:avLst/>
          </a:prstGeom>
          <a:noFill/>
          <a:ln/>
        </p:spPr>
        <p:txBody>
          <a:bodyPr wrap="square" rtlCol="0" anchor="t"/>
          <a:lstStyle/>
          <a:p>
            <a:pPr marL="342900" indent="-342900">
              <a:spcAft>
                <a:spcPts val="800"/>
              </a:spcAft>
              <a:buSzPct val="100000"/>
              <a:buChar char="•"/>
            </a:pPr>
            <a:r>
              <a:rPr lang="en-US" sz="1400" dirty="0">
                <a:solidFill>
                  <a:schemeClr val="tx1"/>
                </a:solidFill>
              </a:rPr>
              <a:t>EC2 and Neo4j graph store</a:t>
            </a:r>
            <a:endParaRPr lang="en-US" sz="1400" dirty="0"/>
          </a:p>
          <a:p>
            <a:pPr marL="342900" indent="-342900">
              <a:spcAft>
                <a:spcPts val="800"/>
              </a:spcAft>
              <a:buSzPct val="100000"/>
              <a:buChar char="•"/>
            </a:pPr>
            <a:r>
              <a:rPr lang="en-US" sz="1400" dirty="0">
                <a:solidFill>
                  <a:schemeClr val="tx1"/>
                </a:solidFill>
              </a:rPr>
              <a:t>Lambda and Glue ETL</a:t>
            </a:r>
            <a:endParaRPr lang="en-US" sz="1400" dirty="0"/>
          </a:p>
          <a:p>
            <a:pPr marL="342900" indent="-342900">
              <a:spcAft>
                <a:spcPts val="800"/>
              </a:spcAft>
              <a:buSzPct val="100000"/>
              <a:buChar char="•"/>
            </a:pPr>
            <a:r>
              <a:rPr lang="en-US" sz="1400" dirty="0">
                <a:solidFill>
                  <a:schemeClr val="tx1"/>
                </a:solidFill>
              </a:rPr>
              <a:t>API Gateway and Cognito</a:t>
            </a:r>
            <a:endParaRPr lang="en-US" sz="1400" dirty="0"/>
          </a:p>
          <a:p>
            <a:pPr marL="342900" indent="-342900">
              <a:spcAft>
                <a:spcPts val="800"/>
              </a:spcAft>
              <a:buSzPct val="100000"/>
              <a:buChar char="•"/>
            </a:pPr>
            <a:r>
              <a:rPr lang="en-US" sz="1400" dirty="0">
                <a:solidFill>
                  <a:schemeClr val="tx1"/>
                </a:solidFill>
              </a:rPr>
              <a:t>CloudTrail, CloudWatch, EventBridge</a:t>
            </a:r>
            <a:endParaRPr lang="en-US" sz="1400" dirty="0"/>
          </a:p>
          <a:p>
            <a:pPr marL="342900" indent="-342900">
              <a:spcAft>
                <a:spcPts val="800"/>
              </a:spcAft>
              <a:buSzPct val="100000"/>
              <a:buChar char="•"/>
            </a:pPr>
            <a:r>
              <a:rPr lang="en-US" sz="1400" dirty="0">
                <a:solidFill>
                  <a:schemeClr val="tx1"/>
                </a:solidFill>
              </a:rPr>
              <a:t>KMS, VPC topology, Organizations</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Our dataset is synthetic and generated intent-first</a:t>
            </a:r>
            <a:endParaRPr lang="en-US" sz="3000" dirty="0"/>
          </a:p>
        </p:txBody>
      </p:sp>
      <p:sp>
        <p:nvSpPr>
          <p:cNvPr id="3" name="Text 1"/>
          <p:cNvSpPr txBox="1"/>
          <p:nvPr/>
        </p:nvSpPr>
        <p:spPr>
          <a:xfrm>
            <a:off x="548640" y="1463040"/>
            <a:ext cx="256032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180</a:t>
            </a:r>
            <a:endParaRPr lang="en-US" sz="4400" dirty="0"/>
          </a:p>
        </p:txBody>
      </p:sp>
      <p:sp>
        <p:nvSpPr>
          <p:cNvPr id="4" name="Text 2"/>
          <p:cNvSpPr txBox="1"/>
          <p:nvPr/>
        </p:nvSpPr>
        <p:spPr>
          <a:xfrm>
            <a:off x="548640" y="2286000"/>
            <a:ext cx="2560320" cy="731520"/>
          </a:xfrm>
          <a:prstGeom prst="rect">
            <a:avLst/>
          </a:prstGeom>
          <a:noFill/>
          <a:ln/>
        </p:spPr>
        <p:txBody>
          <a:bodyPr wrap="square" lIns="0" tIns="0" rIns="0" bIns="0" rtlCol="0" anchor="t"/>
          <a:lstStyle/>
          <a:p>
            <a:pPr indent="0" marL="0">
              <a:buNone/>
            </a:pPr>
            <a:r>
              <a:rPr lang="en-US" sz="1300" dirty="0">
                <a:solidFill>
                  <a:schemeClr val="tx1"/>
                </a:solidFill>
              </a:rPr>
              <a:t>estates, one seed family each</a:t>
            </a:r>
            <a:endParaRPr lang="en-US" sz="1300" dirty="0"/>
          </a:p>
        </p:txBody>
      </p:sp>
      <p:sp>
        <p:nvSpPr>
          <p:cNvPr id="5" name="Text 3"/>
          <p:cNvSpPr txBox="1"/>
          <p:nvPr/>
        </p:nvSpPr>
        <p:spPr>
          <a:xfrm>
            <a:off x="3291840" y="1463040"/>
            <a:ext cx="256032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2,331</a:t>
            </a:r>
            <a:endParaRPr lang="en-US" sz="4400" dirty="0"/>
          </a:p>
        </p:txBody>
      </p:sp>
      <p:sp>
        <p:nvSpPr>
          <p:cNvPr id="6" name="Text 4"/>
          <p:cNvSpPr txBox="1"/>
          <p:nvPr/>
        </p:nvSpPr>
        <p:spPr>
          <a:xfrm>
            <a:off x="3291840" y="2286000"/>
            <a:ext cx="2560320" cy="731520"/>
          </a:xfrm>
          <a:prstGeom prst="rect">
            <a:avLst/>
          </a:prstGeom>
          <a:noFill/>
          <a:ln/>
        </p:spPr>
        <p:txBody>
          <a:bodyPr wrap="square" lIns="0" tIns="0" rIns="0" bIns="0" rtlCol="0" anchor="t"/>
          <a:lstStyle/>
          <a:p>
            <a:pPr indent="0" marL="0">
              <a:buNone/>
            </a:pPr>
            <a:r>
              <a:rPr lang="en-US" sz="1300" dirty="0">
                <a:solidFill>
                  <a:schemeClr val="tx1"/>
                </a:solidFill>
              </a:rPr>
              <a:t>AWS resources, 1,615 dependency edges</a:t>
            </a:r>
            <a:endParaRPr lang="en-US" sz="1300" dirty="0"/>
          </a:p>
        </p:txBody>
      </p:sp>
      <p:sp>
        <p:nvSpPr>
          <p:cNvPr id="7" name="Text 5"/>
          <p:cNvSpPr txBox="1"/>
          <p:nvPr/>
        </p:nvSpPr>
        <p:spPr>
          <a:xfrm>
            <a:off x="6035040" y="1463040"/>
            <a:ext cx="256032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7</a:t>
            </a:r>
            <a:endParaRPr lang="en-US" sz="4400" dirty="0"/>
          </a:p>
        </p:txBody>
      </p:sp>
      <p:sp>
        <p:nvSpPr>
          <p:cNvPr id="8" name="Text 6"/>
          <p:cNvSpPr txBox="1"/>
          <p:nvPr/>
        </p:nvSpPr>
        <p:spPr>
          <a:xfrm>
            <a:off x="6035040" y="2286000"/>
            <a:ext cx="2560320" cy="731520"/>
          </a:xfrm>
          <a:prstGeom prst="rect">
            <a:avLst/>
          </a:prstGeom>
          <a:noFill/>
          <a:ln/>
        </p:spPr>
        <p:txBody>
          <a:bodyPr wrap="square" lIns="0" tIns="0" rIns="0" bIns="0" rtlCol="0" anchor="t"/>
          <a:lstStyle/>
          <a:p>
            <a:pPr indent="0" marL="0">
              <a:buNone/>
            </a:pPr>
            <a:r>
              <a:rPr lang="en-US" sz="1300" dirty="0">
                <a:solidFill>
                  <a:schemeClr val="tx1"/>
                </a:solidFill>
              </a:rPr>
              <a:t>intent axes carried as ground truth by every estate</a:t>
            </a:r>
            <a:endParaRPr lang="en-US" sz="1300" dirty="0"/>
          </a:p>
        </p:txBody>
      </p:sp>
      <p:sp>
        <p:nvSpPr>
          <p:cNvPr id="9" name="Text 7"/>
          <p:cNvSpPr txBox="1"/>
          <p:nvPr/>
        </p:nvSpPr>
        <p:spPr>
          <a:xfrm>
            <a:off x="8778240" y="1463040"/>
            <a:ext cx="283464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803</a:t>
            </a:r>
            <a:endParaRPr lang="en-US" sz="4400" dirty="0"/>
          </a:p>
        </p:txBody>
      </p:sp>
      <p:sp>
        <p:nvSpPr>
          <p:cNvPr id="10" name="Text 8"/>
          <p:cNvSpPr txBox="1"/>
          <p:nvPr/>
        </p:nvSpPr>
        <p:spPr>
          <a:xfrm>
            <a:off x="8778240" y="2286000"/>
            <a:ext cx="2834640" cy="731520"/>
          </a:xfrm>
          <a:prstGeom prst="rect">
            <a:avLst/>
          </a:prstGeom>
          <a:noFill/>
          <a:ln/>
        </p:spPr>
        <p:txBody>
          <a:bodyPr wrap="square" lIns="0" tIns="0" rIns="0" bIns="0" rtlCol="0" anchor="t"/>
          <a:lstStyle/>
          <a:p>
            <a:pPr indent="0" marL="0">
              <a:buNone/>
            </a:pPr>
            <a:r>
              <a:rPr lang="en-US" sz="1300" dirty="0">
                <a:solidFill>
                  <a:schemeClr val="tx1"/>
                </a:solidFill>
              </a:rPr>
              <a:t>AWS resources from two repositories we did not write (Corpus D)</a:t>
            </a:r>
            <a:endParaRPr lang="en-US" sz="1300" dirty="0"/>
          </a:p>
        </p:txBody>
      </p:sp>
      <p:sp>
        <p:nvSpPr>
          <p:cNvPr id="11" name="dataset-note"/>
          <p:cNvSpPr/>
          <p:nvPr/>
        </p:nvSpPr>
        <p:spPr>
          <a:xfrm>
            <a:off x="548640" y="3749040"/>
            <a:ext cx="11064240" cy="2194560"/>
          </a:xfrm>
          <a:prstGeom prst="rect">
            <a:avLst/>
          </a:prstGeom>
          <a:solidFill>
            <a:schemeClr val="bg2"/>
          </a:solidFill>
          <a:ln w="12700">
            <a:solidFill>
              <a:schemeClr val="bg2"/>
            </a:solidFill>
            <a:prstDash val="solid"/>
          </a:ln>
        </p:spPr>
      </p:sp>
      <p:sp>
        <p:nvSpPr>
          <p:cNvPr id="12" name="Text 10"/>
          <p:cNvSpPr txBox="1"/>
          <p:nvPr/>
        </p:nvSpPr>
        <p:spPr>
          <a:xfrm>
            <a:off x="777240" y="3931920"/>
            <a:ext cx="10607040" cy="1828800"/>
          </a:xfrm>
          <a:prstGeom prst="rect">
            <a:avLst/>
          </a:prstGeom>
          <a:noFill/>
          <a:ln/>
        </p:spPr>
        <p:txBody>
          <a:bodyPr wrap="square" rtlCol="0" anchor="t"/>
          <a:lstStyle/>
          <a:p>
            <a:pPr marL="342900" indent="-342900">
              <a:spcAft>
                <a:spcPts val="800"/>
              </a:spcAft>
              <a:buSzPct val="100000"/>
              <a:buChar char="•"/>
            </a:pPr>
            <a:r>
              <a:rPr lang="en-US" sz="1500" dirty="0">
                <a:solidFill>
                  <a:schemeClr val="tx1"/>
                </a:solidFill>
              </a:rPr>
              <a:t>Generated, not downloaded: we sample intent first, then render a clean estate from it, so each estate carries the intent it was built for.</a:t>
            </a:r>
            <a:endParaRPr lang="en-US" sz="1500" dirty="0"/>
          </a:p>
          <a:p>
            <a:pPr marL="342900" indent="-342900">
              <a:spcAft>
                <a:spcPts val="800"/>
              </a:spcAft>
              <a:buSzPct val="100000"/>
              <a:buChar char="•"/>
            </a:pPr>
            <a:r>
              <a:rPr lang="en-US" sz="1500" dirty="0">
                <a:solidFill>
                  <a:schemeClr val="tx1"/>
                </a:solidFill>
              </a:rPr>
              <a:t>We inject defects DF-1 to DF-7 into clean estates and split by seed family, with a leakage guard.</a:t>
            </a:r>
            <a:endParaRPr lang="en-US" sz="1500" dirty="0"/>
          </a:p>
          <a:p>
            <a:pPr marL="342900" indent="-342900">
              <a:spcAft>
                <a:spcPts val="800"/>
              </a:spcAft>
              <a:buSzPct val="100000"/>
              <a:buChar char="•"/>
            </a:pPr>
            <a:r>
              <a:rPr lang="en-US" sz="1500" dirty="0">
                <a:solidFill>
                  <a:schemeClr val="tx1"/>
                </a:solidFill>
              </a:rPr>
              <a:t>The corpus is synthetic and self-generated; no real financial-sector estate is used. Corpus D (TerraGoat and CloudGoat) is parsed, never executed.</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One command, from harvest to a justified verdict</a:t>
            </a:r>
            <a:endParaRPr lang="en-US" sz="3000" dirty="0"/>
          </a:p>
        </p:txBody>
      </p:sp>
      <p:sp>
        <p:nvSpPr>
          <p:cNvPr id="3" name="step-0"/>
          <p:cNvSpPr/>
          <p:nvPr/>
        </p:nvSpPr>
        <p:spPr>
          <a:xfrm>
            <a:off x="548640" y="1463040"/>
            <a:ext cx="1691640" cy="2377440"/>
          </a:xfrm>
          <a:prstGeom prst="rect">
            <a:avLst/>
          </a:prstGeom>
          <a:solidFill>
            <a:schemeClr val="bg2"/>
          </a:solidFill>
          <a:ln w="12700">
            <a:solidFill>
              <a:schemeClr val="bg2"/>
            </a:solidFill>
            <a:prstDash val="solid"/>
          </a:ln>
        </p:spPr>
      </p:sp>
      <p:sp>
        <p:nvSpPr>
          <p:cNvPr id="4" name="Text 2"/>
          <p:cNvSpPr txBox="1"/>
          <p:nvPr/>
        </p:nvSpPr>
        <p:spPr>
          <a:xfrm>
            <a:off x="658368" y="1600200"/>
            <a:ext cx="1463040" cy="45720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Harvest</a:t>
            </a:r>
            <a:endParaRPr lang="en-US" sz="1600" dirty="0"/>
          </a:p>
        </p:txBody>
      </p:sp>
      <p:sp>
        <p:nvSpPr>
          <p:cNvPr id="5" name="Text 3"/>
          <p:cNvSpPr txBox="1"/>
          <p:nvPr/>
        </p:nvSpPr>
        <p:spPr>
          <a:xfrm>
            <a:off x="658368" y="2103120"/>
            <a:ext cx="1463040" cy="1097280"/>
          </a:xfrm>
          <a:prstGeom prst="rect">
            <a:avLst/>
          </a:prstGeom>
          <a:noFill/>
          <a:ln/>
        </p:spPr>
        <p:txBody>
          <a:bodyPr wrap="square" lIns="0" tIns="0" rIns="0" bIns="0" rtlCol="0" anchor="t"/>
          <a:lstStyle/>
          <a:p>
            <a:pPr indent="0" marL="0">
              <a:buNone/>
            </a:pPr>
            <a:r>
              <a:rPr lang="en-US" sz="1300" dirty="0">
                <a:solidFill>
                  <a:schemeClr val="tx1"/>
                </a:solidFill>
              </a:rPr>
              <a:t>held-out estate from the corpus</a:t>
            </a:r>
            <a:endParaRPr lang="en-US" sz="1300" dirty="0"/>
          </a:p>
        </p:txBody>
      </p:sp>
      <p:sp>
        <p:nvSpPr>
          <p:cNvPr id="6" name="chip-stand"/>
          <p:cNvSpPr txBox="1"/>
          <p:nvPr/>
        </p:nvSpPr>
        <p:spPr>
          <a:xfrm>
            <a:off x="658368" y="3337560"/>
            <a:ext cx="1463040" cy="292608"/>
          </a:xfrm>
          <a:prstGeom prst="roundRect">
            <a:avLst>
              <a:gd name="adj" fmla="val 15625"/>
            </a:avLst>
          </a:prstGeom>
          <a:solidFill>
            <a:schemeClr val="accent3"/>
          </a:solidFill>
          <a:ln/>
        </p:spPr>
        <p:txBody>
          <a:bodyPr wrap="square" lIns="0" tIns="0" rIns="0" bIns="0" rtlCol="0" anchor="ctr"/>
          <a:lstStyle/>
          <a:p>
            <a:pPr algn="ctr" indent="0" marL="0">
              <a:buNone/>
            </a:pPr>
            <a:r>
              <a:rPr lang="en-US" sz="1100" b="1" dirty="0">
                <a:solidFill>
                  <a:schemeClr val="bg1"/>
                </a:solidFill>
              </a:rPr>
              <a:t>Local stand-in</a:t>
            </a:r>
            <a:endParaRPr lang="en-US" sz="1100" dirty="0"/>
          </a:p>
        </p:txBody>
      </p:sp>
      <p:sp>
        <p:nvSpPr>
          <p:cNvPr id="7" name="step-1"/>
          <p:cNvSpPr/>
          <p:nvPr/>
        </p:nvSpPr>
        <p:spPr>
          <a:xfrm>
            <a:off x="2423160" y="1463040"/>
            <a:ext cx="1691640" cy="2377440"/>
          </a:xfrm>
          <a:prstGeom prst="rect">
            <a:avLst/>
          </a:prstGeom>
          <a:solidFill>
            <a:schemeClr val="bg2"/>
          </a:solidFill>
          <a:ln w="12700">
            <a:solidFill>
              <a:schemeClr val="bg2"/>
            </a:solidFill>
            <a:prstDash val="solid"/>
          </a:ln>
        </p:spPr>
      </p:sp>
      <p:sp>
        <p:nvSpPr>
          <p:cNvPr id="8" name="Text 6"/>
          <p:cNvSpPr txBox="1"/>
          <p:nvPr/>
        </p:nvSpPr>
        <p:spPr>
          <a:xfrm>
            <a:off x="2532888" y="1600200"/>
            <a:ext cx="1463040" cy="45720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Graph</a:t>
            </a:r>
            <a:endParaRPr lang="en-US" sz="1600" dirty="0"/>
          </a:p>
        </p:txBody>
      </p:sp>
      <p:sp>
        <p:nvSpPr>
          <p:cNvPr id="9" name="Text 7"/>
          <p:cNvSpPr txBox="1"/>
          <p:nvPr/>
        </p:nvSpPr>
        <p:spPr>
          <a:xfrm>
            <a:off x="2532888" y="2103120"/>
            <a:ext cx="1463040" cy="1097280"/>
          </a:xfrm>
          <a:prstGeom prst="rect">
            <a:avLst/>
          </a:prstGeom>
          <a:noFill/>
          <a:ln/>
        </p:spPr>
        <p:txBody>
          <a:bodyPr wrap="square" lIns="0" tIns="0" rIns="0" bIns="0" rtlCol="0" anchor="t"/>
          <a:lstStyle/>
          <a:p>
            <a:pPr indent="0" marL="0">
              <a:buNone/>
            </a:pPr>
            <a:r>
              <a:rPr lang="en-US" sz="1300" dirty="0">
                <a:solidFill>
                  <a:schemeClr val="tx1"/>
                </a:solidFill>
              </a:rPr>
              <a:t>dependency graph, 3-hop paths</a:t>
            </a:r>
            <a:endParaRPr lang="en-US" sz="1300" dirty="0"/>
          </a:p>
        </p:txBody>
      </p:sp>
      <p:sp>
        <p:nvSpPr>
          <p:cNvPr id="10" name="chip-runs"/>
          <p:cNvSpPr txBox="1"/>
          <p:nvPr/>
        </p:nvSpPr>
        <p:spPr>
          <a:xfrm>
            <a:off x="2532888" y="3337560"/>
            <a:ext cx="1463040" cy="292608"/>
          </a:xfrm>
          <a:prstGeom prst="roundRect">
            <a:avLst>
              <a:gd name="adj" fmla="val 15625"/>
            </a:avLst>
          </a:prstGeom>
          <a:solidFill>
            <a:schemeClr val="accent1"/>
          </a:solidFill>
          <a:ln/>
        </p:spPr>
        <p:txBody>
          <a:bodyPr wrap="square" lIns="0" tIns="0" rIns="0" bIns="0" rtlCol="0" anchor="ctr"/>
          <a:lstStyle/>
          <a:p>
            <a:pPr algn="ctr" indent="0" marL="0">
              <a:buNone/>
            </a:pPr>
            <a:r>
              <a:rPr lang="en-US" sz="1100" b="1" dirty="0">
                <a:solidFill>
                  <a:schemeClr val="bg1"/>
                </a:solidFill>
              </a:rPr>
              <a:t>Runs today</a:t>
            </a:r>
            <a:endParaRPr lang="en-US" sz="1100" dirty="0"/>
          </a:p>
        </p:txBody>
      </p:sp>
      <p:sp>
        <p:nvSpPr>
          <p:cNvPr id="11" name="step-2"/>
          <p:cNvSpPr/>
          <p:nvPr/>
        </p:nvSpPr>
        <p:spPr>
          <a:xfrm>
            <a:off x="4297680" y="1463040"/>
            <a:ext cx="1691640" cy="2377440"/>
          </a:xfrm>
          <a:prstGeom prst="rect">
            <a:avLst/>
          </a:prstGeom>
          <a:solidFill>
            <a:schemeClr val="bg2"/>
          </a:solidFill>
          <a:ln w="12700">
            <a:solidFill>
              <a:schemeClr val="bg2"/>
            </a:solidFill>
            <a:prstDash val="solid"/>
          </a:ln>
        </p:spPr>
      </p:sp>
      <p:sp>
        <p:nvSpPr>
          <p:cNvPr id="12" name="Text 10"/>
          <p:cNvSpPr txBox="1"/>
          <p:nvPr/>
        </p:nvSpPr>
        <p:spPr>
          <a:xfrm>
            <a:off x="4407408" y="1600200"/>
            <a:ext cx="1463040" cy="45720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Intent</a:t>
            </a:r>
            <a:endParaRPr lang="en-US" sz="1600" dirty="0"/>
          </a:p>
        </p:txBody>
      </p:sp>
      <p:sp>
        <p:nvSpPr>
          <p:cNvPr id="13" name="Text 11"/>
          <p:cNvSpPr txBox="1"/>
          <p:nvPr/>
        </p:nvSpPr>
        <p:spPr>
          <a:xfrm>
            <a:off x="4407408" y="2103120"/>
            <a:ext cx="1463040" cy="1097280"/>
          </a:xfrm>
          <a:prstGeom prst="rect">
            <a:avLst/>
          </a:prstGeom>
          <a:noFill/>
          <a:ln/>
        </p:spPr>
        <p:txBody>
          <a:bodyPr wrap="square" lIns="0" tIns="0" rIns="0" bIns="0" rtlCol="0" anchor="t"/>
          <a:lstStyle/>
          <a:p>
            <a:pPr indent="0" marL="0">
              <a:buNone/>
            </a:pPr>
            <a:r>
              <a:rPr lang="en-US" sz="1300" dirty="0">
                <a:solidFill>
                  <a:schemeClr val="tx1"/>
                </a:solidFill>
              </a:rPr>
              <a:t>per-field value and confidence</a:t>
            </a:r>
            <a:endParaRPr lang="en-US" sz="1300" dirty="0"/>
          </a:p>
        </p:txBody>
      </p:sp>
      <p:sp>
        <p:nvSpPr>
          <p:cNvPr id="14" name="chip-runs"/>
          <p:cNvSpPr txBox="1"/>
          <p:nvPr/>
        </p:nvSpPr>
        <p:spPr>
          <a:xfrm>
            <a:off x="4407408" y="3337560"/>
            <a:ext cx="1463040" cy="292608"/>
          </a:xfrm>
          <a:prstGeom prst="roundRect">
            <a:avLst>
              <a:gd name="adj" fmla="val 15625"/>
            </a:avLst>
          </a:prstGeom>
          <a:solidFill>
            <a:schemeClr val="accent1"/>
          </a:solidFill>
          <a:ln/>
        </p:spPr>
        <p:txBody>
          <a:bodyPr wrap="square" lIns="0" tIns="0" rIns="0" bIns="0" rtlCol="0" anchor="ctr"/>
          <a:lstStyle/>
          <a:p>
            <a:pPr algn="ctr" indent="0" marL="0">
              <a:buNone/>
            </a:pPr>
            <a:r>
              <a:rPr lang="en-US" sz="1100" b="1" dirty="0">
                <a:solidFill>
                  <a:schemeClr val="bg1"/>
                </a:solidFill>
              </a:rPr>
              <a:t>Runs today</a:t>
            </a:r>
            <a:endParaRPr lang="en-US" sz="1100" dirty="0"/>
          </a:p>
        </p:txBody>
      </p:sp>
      <p:sp>
        <p:nvSpPr>
          <p:cNvPr id="15" name="step-3"/>
          <p:cNvSpPr/>
          <p:nvPr/>
        </p:nvSpPr>
        <p:spPr>
          <a:xfrm>
            <a:off x="6172200" y="1463040"/>
            <a:ext cx="1691640" cy="2377440"/>
          </a:xfrm>
          <a:prstGeom prst="rect">
            <a:avLst/>
          </a:prstGeom>
          <a:solidFill>
            <a:schemeClr val="bg2"/>
          </a:solidFill>
          <a:ln w="12700">
            <a:solidFill>
              <a:schemeClr val="bg2"/>
            </a:solidFill>
            <a:prstDash val="solid"/>
          </a:ln>
        </p:spPr>
      </p:sp>
      <p:sp>
        <p:nvSpPr>
          <p:cNvPr id="16" name="Text 14"/>
          <p:cNvSpPr txBox="1"/>
          <p:nvPr/>
        </p:nvSpPr>
        <p:spPr>
          <a:xfrm>
            <a:off x="6281928" y="1600200"/>
            <a:ext cx="1463040" cy="45720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Recommend</a:t>
            </a:r>
            <a:endParaRPr lang="en-US" sz="1600" dirty="0"/>
          </a:p>
        </p:txBody>
      </p:sp>
      <p:sp>
        <p:nvSpPr>
          <p:cNvPr id="17" name="Text 15"/>
          <p:cNvSpPr txBox="1"/>
          <p:nvPr/>
        </p:nvSpPr>
        <p:spPr>
          <a:xfrm>
            <a:off x="6281928" y="2103120"/>
            <a:ext cx="1463040" cy="1097280"/>
          </a:xfrm>
          <a:prstGeom prst="rect">
            <a:avLst/>
          </a:prstGeom>
          <a:noFill/>
          <a:ln/>
        </p:spPr>
        <p:txBody>
          <a:bodyPr wrap="square" lIns="0" tIns="0" rIns="0" bIns="0" rtlCol="0" anchor="t"/>
          <a:lstStyle/>
          <a:p>
            <a:pPr indent="0" marL="0">
              <a:buNone/>
            </a:pPr>
            <a:r>
              <a:rPr lang="en-US" sz="1300" dirty="0">
                <a:solidFill>
                  <a:schemeClr val="tx1"/>
                </a:solidFill>
              </a:rPr>
              <a:t>ranked options, CRITICAL mask</a:t>
            </a:r>
            <a:endParaRPr lang="en-US" sz="1300" dirty="0"/>
          </a:p>
        </p:txBody>
      </p:sp>
      <p:sp>
        <p:nvSpPr>
          <p:cNvPr id="18" name="chip-runs"/>
          <p:cNvSpPr txBox="1"/>
          <p:nvPr/>
        </p:nvSpPr>
        <p:spPr>
          <a:xfrm>
            <a:off x="6281928" y="3337560"/>
            <a:ext cx="1463040" cy="292608"/>
          </a:xfrm>
          <a:prstGeom prst="roundRect">
            <a:avLst>
              <a:gd name="adj" fmla="val 15625"/>
            </a:avLst>
          </a:prstGeom>
          <a:solidFill>
            <a:schemeClr val="accent1"/>
          </a:solidFill>
          <a:ln/>
        </p:spPr>
        <p:txBody>
          <a:bodyPr wrap="square" lIns="0" tIns="0" rIns="0" bIns="0" rtlCol="0" anchor="ctr"/>
          <a:lstStyle/>
          <a:p>
            <a:pPr algn="ctr" indent="0" marL="0">
              <a:buNone/>
            </a:pPr>
            <a:r>
              <a:rPr lang="en-US" sz="1100" b="1" dirty="0">
                <a:solidFill>
                  <a:schemeClr val="bg1"/>
                </a:solidFill>
              </a:rPr>
              <a:t>Runs today</a:t>
            </a:r>
            <a:endParaRPr lang="en-US" sz="1100" dirty="0"/>
          </a:p>
        </p:txBody>
      </p:sp>
      <p:sp>
        <p:nvSpPr>
          <p:cNvPr id="19" name="step-4"/>
          <p:cNvSpPr/>
          <p:nvPr/>
        </p:nvSpPr>
        <p:spPr>
          <a:xfrm>
            <a:off x="8046720" y="1463040"/>
            <a:ext cx="1691640" cy="2377440"/>
          </a:xfrm>
          <a:prstGeom prst="rect">
            <a:avLst/>
          </a:prstGeom>
          <a:solidFill>
            <a:schemeClr val="bg2"/>
          </a:solidFill>
          <a:ln w="12700">
            <a:solidFill>
              <a:schemeClr val="bg2"/>
            </a:solidFill>
            <a:prstDash val="solid"/>
          </a:ln>
        </p:spPr>
      </p:sp>
      <p:sp>
        <p:nvSpPr>
          <p:cNvPr id="20" name="Text 18"/>
          <p:cNvSpPr txBox="1"/>
          <p:nvPr/>
        </p:nvSpPr>
        <p:spPr>
          <a:xfrm>
            <a:off x="8156448" y="1600200"/>
            <a:ext cx="1463040" cy="45720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Advise</a:t>
            </a:r>
            <a:endParaRPr lang="en-US" sz="1600" dirty="0"/>
          </a:p>
        </p:txBody>
      </p:sp>
      <p:sp>
        <p:nvSpPr>
          <p:cNvPr id="21" name="Text 19"/>
          <p:cNvSpPr txBox="1"/>
          <p:nvPr/>
        </p:nvSpPr>
        <p:spPr>
          <a:xfrm>
            <a:off x="8156448" y="2103120"/>
            <a:ext cx="1463040" cy="1097280"/>
          </a:xfrm>
          <a:prstGeom prst="rect">
            <a:avLst/>
          </a:prstGeom>
          <a:noFill/>
          <a:ln/>
        </p:spPr>
        <p:txBody>
          <a:bodyPr wrap="square" lIns="0" tIns="0" rIns="0" bIns="0" rtlCol="0" anchor="t"/>
          <a:lstStyle/>
          <a:p>
            <a:pPr indent="0" marL="0">
              <a:buNone/>
            </a:pPr>
            <a:r>
              <a:rPr lang="en-US" sz="1300" dirty="0">
                <a:solidFill>
                  <a:schemeClr val="tx1"/>
                </a:solidFill>
              </a:rPr>
              <a:t>grounded findings, bounded loop</a:t>
            </a:r>
            <a:endParaRPr lang="en-US" sz="1300" dirty="0"/>
          </a:p>
        </p:txBody>
      </p:sp>
      <p:sp>
        <p:nvSpPr>
          <p:cNvPr id="22" name="chip-runs"/>
          <p:cNvSpPr txBox="1"/>
          <p:nvPr/>
        </p:nvSpPr>
        <p:spPr>
          <a:xfrm>
            <a:off x="8156448" y="3337560"/>
            <a:ext cx="1463040" cy="292608"/>
          </a:xfrm>
          <a:prstGeom prst="roundRect">
            <a:avLst>
              <a:gd name="adj" fmla="val 15625"/>
            </a:avLst>
          </a:prstGeom>
          <a:solidFill>
            <a:schemeClr val="accent1"/>
          </a:solidFill>
          <a:ln/>
        </p:spPr>
        <p:txBody>
          <a:bodyPr wrap="square" lIns="0" tIns="0" rIns="0" bIns="0" rtlCol="0" anchor="ctr"/>
          <a:lstStyle/>
          <a:p>
            <a:pPr algn="ctr" indent="0" marL="0">
              <a:buNone/>
            </a:pPr>
            <a:r>
              <a:rPr lang="en-US" sz="1100" b="1" dirty="0">
                <a:solidFill>
                  <a:schemeClr val="bg1"/>
                </a:solidFill>
              </a:rPr>
              <a:t>Runs today</a:t>
            </a:r>
            <a:endParaRPr lang="en-US" sz="1100" dirty="0"/>
          </a:p>
        </p:txBody>
      </p:sp>
      <p:sp>
        <p:nvSpPr>
          <p:cNvPr id="23" name="step-5"/>
          <p:cNvSpPr/>
          <p:nvPr/>
        </p:nvSpPr>
        <p:spPr>
          <a:xfrm>
            <a:off x="9921240" y="1463040"/>
            <a:ext cx="1691640" cy="2377440"/>
          </a:xfrm>
          <a:prstGeom prst="rect">
            <a:avLst/>
          </a:prstGeom>
          <a:solidFill>
            <a:schemeClr val="bg2"/>
          </a:solidFill>
          <a:ln w="12700">
            <a:solidFill>
              <a:schemeClr val="bg2"/>
            </a:solidFill>
            <a:prstDash val="solid"/>
          </a:ln>
        </p:spPr>
      </p:sp>
      <p:sp>
        <p:nvSpPr>
          <p:cNvPr id="24" name="Text 22"/>
          <p:cNvSpPr txBox="1"/>
          <p:nvPr/>
        </p:nvSpPr>
        <p:spPr>
          <a:xfrm>
            <a:off x="10030968" y="1600200"/>
            <a:ext cx="1463040" cy="45720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Explain</a:t>
            </a:r>
            <a:endParaRPr lang="en-US" sz="1600" dirty="0"/>
          </a:p>
        </p:txBody>
      </p:sp>
      <p:sp>
        <p:nvSpPr>
          <p:cNvPr id="25" name="Text 23"/>
          <p:cNvSpPr txBox="1"/>
          <p:nvPr/>
        </p:nvSpPr>
        <p:spPr>
          <a:xfrm>
            <a:off x="10030968" y="2103120"/>
            <a:ext cx="1463040" cy="1097280"/>
          </a:xfrm>
          <a:prstGeom prst="rect">
            <a:avLst/>
          </a:prstGeom>
          <a:noFill/>
          <a:ln/>
        </p:spPr>
        <p:txBody>
          <a:bodyPr wrap="square" lIns="0" tIns="0" rIns="0" bIns="0" rtlCol="0" anchor="t"/>
          <a:lstStyle/>
          <a:p>
            <a:pPr indent="0" marL="0">
              <a:buNone/>
            </a:pPr>
            <a:r>
              <a:rPr lang="en-US" sz="1300" dirty="0">
                <a:solidFill>
                  <a:schemeClr val="tx1"/>
                </a:solidFill>
              </a:rPr>
              <a:t>three audiences, counterfactuals</a:t>
            </a:r>
            <a:endParaRPr lang="en-US" sz="1300" dirty="0"/>
          </a:p>
        </p:txBody>
      </p:sp>
      <p:sp>
        <p:nvSpPr>
          <p:cNvPr id="26" name="chip-runs"/>
          <p:cNvSpPr txBox="1"/>
          <p:nvPr/>
        </p:nvSpPr>
        <p:spPr>
          <a:xfrm>
            <a:off x="10030968" y="3337560"/>
            <a:ext cx="1463040" cy="292608"/>
          </a:xfrm>
          <a:prstGeom prst="roundRect">
            <a:avLst>
              <a:gd name="adj" fmla="val 15625"/>
            </a:avLst>
          </a:prstGeom>
          <a:solidFill>
            <a:schemeClr val="accent1"/>
          </a:solidFill>
          <a:ln/>
        </p:spPr>
        <p:txBody>
          <a:bodyPr wrap="square" lIns="0" tIns="0" rIns="0" bIns="0" rtlCol="0" anchor="ctr"/>
          <a:lstStyle/>
          <a:p>
            <a:pPr algn="ctr" indent="0" marL="0">
              <a:buNone/>
            </a:pPr>
            <a:r>
              <a:rPr lang="en-US" sz="1100" b="1" dirty="0">
                <a:solidFill>
                  <a:schemeClr val="bg1"/>
                </a:solidFill>
              </a:rPr>
              <a:t>Runs today</a:t>
            </a:r>
            <a:endParaRPr lang="en-US" sz="1100" dirty="0"/>
          </a:p>
        </p:txBody>
      </p:sp>
      <p:sp>
        <p:nvSpPr>
          <p:cNvPr id="27" name="Text 25"/>
          <p:cNvSpPr txBox="1"/>
          <p:nvPr/>
        </p:nvSpPr>
        <p:spPr>
          <a:xfrm>
            <a:off x="548640" y="4206240"/>
            <a:ext cx="11064240" cy="502920"/>
          </a:xfrm>
          <a:prstGeom prst="rect">
            <a:avLst/>
          </a:prstGeom>
          <a:solidFill>
            <a:schemeClr val="tx2"/>
          </a:solidFill>
          <a:ln/>
        </p:spPr>
        <p:txBody>
          <a:bodyPr wrap="square" lIns="152400" tIns="152400" rIns="152400" bIns="152400" rtlCol="0" anchor="ctr"/>
          <a:lstStyle/>
          <a:p>
            <a:pPr indent="0" marL="0">
              <a:buNone/>
            </a:pPr>
            <a:r>
              <a:rPr lang="en-US" sz="1500" dirty="0">
                <a:solidFill>
                  <a:schemeClr val="bg1"/>
                </a:solidFill>
                <a:latin typeface="Courier New" pitchFamily="34" charset="0"/>
                <a:ea typeface="Courier New" pitchFamily="34" charset="-122"/>
                <a:cs typeface="Courier New" pitchFamily="34" charset="-120"/>
              </a:rPr>
              <a:t>python -m kgcr.cli review --variant unencrypted_database --audience auditor</a:t>
            </a:r>
            <a:endParaRPr lang="en-US" sz="1500" dirty="0"/>
          </a:p>
        </p:txBody>
      </p:sp>
      <p:sp>
        <p:nvSpPr>
          <p:cNvPr id="28" name="Text 26"/>
          <p:cNvSpPr txBox="1"/>
          <p:nvPr/>
        </p:nvSpPr>
        <p:spPr>
          <a:xfrm>
            <a:off x="548640" y="4892040"/>
            <a:ext cx="11064240" cy="1463040"/>
          </a:xfrm>
          <a:prstGeom prst="rect">
            <a:avLst/>
          </a:prstGeom>
          <a:noFill/>
          <a:ln/>
        </p:spPr>
        <p:txBody>
          <a:bodyPr wrap="square" rtlCol="0" anchor="t"/>
          <a:lstStyle/>
          <a:p>
            <a:pPr marL="342900" indent="-342900">
              <a:spcAft>
                <a:spcPts val="600"/>
              </a:spcAft>
              <a:buSzPct val="100000"/>
              <a:buChar char="•"/>
            </a:pPr>
            <a:r>
              <a:rPr lang="en-US" sz="1500" dirty="0">
                <a:solidFill>
                  <a:schemeClr val="tx1"/>
                </a:solidFill>
              </a:rPr>
              <a:t>We write the run record, the explanation bundle, the patched spec and three renderings to the artifact store.</a:t>
            </a:r>
            <a:endParaRPr lang="en-US" sz="1500" dirty="0"/>
          </a:p>
          <a:p>
            <a:pPr marL="342900" indent="-342900">
              <a:spcAft>
                <a:spcPts val="600"/>
              </a:spcAft>
              <a:buSzPct val="100000"/>
              <a:buChar char="•"/>
            </a:pPr>
            <a:r>
              <a:rPr lang="en-US" sz="1500" dirty="0">
                <a:solidFill>
                  <a:schemeClr val="tx1"/>
                </a:solidFill>
              </a:rPr>
              <a:t>474 tests, ruff, ruff format and mypy all pass, with PYTHONHASHSEED=0 so a run is reproducible.</a:t>
            </a:r>
            <a:endParaRPr lang="en-US" sz="1500" dirty="0"/>
          </a:p>
          <a:p>
            <a:pPr marL="342900" indent="-342900">
              <a:spcAft>
                <a:spcPts val="600"/>
              </a:spcAft>
              <a:buSzPct val="100000"/>
              <a:buChar char="•"/>
            </a:pPr>
            <a:r>
              <a:rPr lang="en-US" sz="1500" dirty="0">
                <a:solidFill>
                  <a:schemeClr val="tx1"/>
                </a:solidFill>
              </a:rPr>
              <a:t>Our advisor's model path ran live (16 recorded calls) and the sycophancy gate passed on 3 valid trials.</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Our graph found 12 of 12 hidden paths. Checkov saw none.</a:t>
            </a:r>
            <a:endParaRPr lang="en-US" sz="3000" dirty="0"/>
          </a:p>
        </p:txBody>
      </p:sp>
      <p:sp>
        <p:nvSpPr>
          <p:cNvPr id="3" name="Text 1"/>
          <p:cNvSpPr txBox="1"/>
          <p:nvPr/>
        </p:nvSpPr>
        <p:spPr>
          <a:xfrm>
            <a:off x="548640" y="1463040"/>
            <a:ext cx="274320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12/12</a:t>
            </a:r>
            <a:endParaRPr lang="en-US" sz="4400" dirty="0"/>
          </a:p>
        </p:txBody>
      </p:sp>
      <p:sp>
        <p:nvSpPr>
          <p:cNvPr id="4" name="Text 2"/>
          <p:cNvSpPr txBox="1"/>
          <p:nvPr/>
        </p:nvSpPr>
        <p:spPr>
          <a:xfrm>
            <a:off x="548640" y="2286000"/>
            <a:ext cx="2743200" cy="731520"/>
          </a:xfrm>
          <a:prstGeom prst="rect">
            <a:avLst/>
          </a:prstGeom>
          <a:noFill/>
          <a:ln/>
        </p:spPr>
        <p:txBody>
          <a:bodyPr wrap="square" lIns="0" tIns="0" rIns="0" bIns="0" rtlCol="0" anchor="t"/>
          <a:lstStyle/>
          <a:p>
            <a:pPr indent="0" marL="0">
              <a:buNone/>
            </a:pPr>
            <a:r>
              <a:rPr lang="en-US" sz="1300" dirty="0">
                <a:solidFill>
                  <a:schemeClr val="tx1"/>
                </a:solidFill>
              </a:rPr>
              <a:t>multi-hop paths recovered by our graph</a:t>
            </a:r>
            <a:endParaRPr lang="en-US" sz="1300" dirty="0"/>
          </a:p>
        </p:txBody>
      </p:sp>
      <p:sp>
        <p:nvSpPr>
          <p:cNvPr id="5" name="Text 3"/>
          <p:cNvSpPr txBox="1"/>
          <p:nvPr/>
        </p:nvSpPr>
        <p:spPr>
          <a:xfrm>
            <a:off x="3474720" y="1463040"/>
            <a:ext cx="2926080" cy="822960"/>
          </a:xfrm>
          <a:prstGeom prst="rect">
            <a:avLst/>
          </a:prstGeom>
          <a:noFill/>
          <a:ln/>
        </p:spPr>
        <p:txBody>
          <a:bodyPr wrap="square" lIns="0" tIns="0" rIns="0" bIns="0" rtlCol="0" anchor="ctr"/>
          <a:lstStyle/>
          <a:p>
            <a:pPr indent="0" marL="0">
              <a:buNone/>
            </a:pPr>
            <a:r>
              <a:rPr lang="en-US" sz="4400" b="1" dirty="0">
                <a:solidFill>
                  <a:schemeClr val="accent4"/>
                </a:solidFill>
                <a:latin typeface="Cambria" pitchFamily="34" charset="0"/>
                <a:ea typeface="Cambria" pitchFamily="34" charset="-122"/>
                <a:cs typeface="Cambria" pitchFamily="34" charset="-120"/>
              </a:rPr>
              <a:t>12/12</a:t>
            </a:r>
            <a:endParaRPr lang="en-US" sz="4400" dirty="0"/>
          </a:p>
        </p:txBody>
      </p:sp>
      <p:sp>
        <p:nvSpPr>
          <p:cNvPr id="6" name="Text 4"/>
          <p:cNvSpPr txBox="1"/>
          <p:nvPr/>
        </p:nvSpPr>
        <p:spPr>
          <a:xfrm>
            <a:off x="3474720" y="2286000"/>
            <a:ext cx="2926080" cy="731520"/>
          </a:xfrm>
          <a:prstGeom prst="rect">
            <a:avLst/>
          </a:prstGeom>
          <a:noFill/>
          <a:ln/>
        </p:spPr>
        <p:txBody>
          <a:bodyPr wrap="square" lIns="0" tIns="0" rIns="0" bIns="0" rtlCol="0" anchor="t"/>
          <a:lstStyle/>
          <a:p>
            <a:pPr indent="0" marL="0">
              <a:buNone/>
            </a:pPr>
            <a:r>
              <a:rPr lang="en-US" sz="1300" dirty="0">
                <a:solidFill>
                  <a:schemeClr val="tx1"/>
                </a:solidFill>
              </a:rPr>
              <a:t>estates where Checkov's verdict on the cardholder database is identical to the clean estate</a:t>
            </a:r>
            <a:endParaRPr lang="en-US" sz="1300" dirty="0"/>
          </a:p>
        </p:txBody>
      </p:sp>
      <p:sp>
        <p:nvSpPr>
          <p:cNvPr id="7" name="Text 5"/>
          <p:cNvSpPr txBox="1"/>
          <p:nvPr/>
        </p:nvSpPr>
        <p:spPr>
          <a:xfrm>
            <a:off x="6675120" y="1463040"/>
            <a:ext cx="2377440" cy="822960"/>
          </a:xfrm>
          <a:prstGeom prst="rect">
            <a:avLst/>
          </a:prstGeom>
          <a:noFill/>
          <a:ln/>
        </p:spPr>
        <p:txBody>
          <a:bodyPr wrap="square" lIns="0" tIns="0" rIns="0" bIns="0" rtlCol="0" anchor="ctr"/>
          <a:lstStyle/>
          <a:p>
            <a:pPr indent="0" marL="0">
              <a:buNone/>
            </a:pPr>
            <a:r>
              <a:rPr lang="en-US" sz="4400" b="1" dirty="0">
                <a:solidFill>
                  <a:schemeClr val="accent3"/>
                </a:solidFill>
                <a:latin typeface="Cambria" pitchFamily="34" charset="0"/>
                <a:ea typeface="Cambria" pitchFamily="34" charset="-122"/>
                <a:cs typeface="Cambria" pitchFamily="34" charset="-120"/>
              </a:rPr>
              <a:t>1.000</a:t>
            </a:r>
            <a:endParaRPr lang="en-US" sz="4400" dirty="0"/>
          </a:p>
        </p:txBody>
      </p:sp>
      <p:sp>
        <p:nvSpPr>
          <p:cNvPr id="8" name="Text 6"/>
          <p:cNvSpPr txBox="1"/>
          <p:nvPr/>
        </p:nvSpPr>
        <p:spPr>
          <a:xfrm>
            <a:off x="6675120" y="2286000"/>
            <a:ext cx="2377440" cy="731520"/>
          </a:xfrm>
          <a:prstGeom prst="rect">
            <a:avLst/>
          </a:prstGeom>
          <a:noFill/>
          <a:ln/>
        </p:spPr>
        <p:txBody>
          <a:bodyPr wrap="square" lIns="0" tIns="0" rIns="0" bIns="0" rtlCol="0" anchor="t"/>
          <a:lstStyle/>
          <a:p>
            <a:pPr indent="0" marL="0">
              <a:buNone/>
            </a:pPr>
            <a:r>
              <a:rPr lang="en-US" sz="1300" dirty="0">
                <a:solidFill>
                  <a:schemeClr val="tx1"/>
                </a:solidFill>
              </a:rPr>
              <a:t>our rule floor's recall on DF-1 to DF-4</a:t>
            </a:r>
            <a:endParaRPr lang="en-US" sz="1300" dirty="0"/>
          </a:p>
        </p:txBody>
      </p:sp>
      <p:sp>
        <p:nvSpPr>
          <p:cNvPr id="9" name="Text 7"/>
          <p:cNvSpPr txBox="1"/>
          <p:nvPr/>
        </p:nvSpPr>
        <p:spPr>
          <a:xfrm>
            <a:off x="9235440" y="1463040"/>
            <a:ext cx="2377440" cy="822960"/>
          </a:xfrm>
          <a:prstGeom prst="rect">
            <a:avLst/>
          </a:prstGeom>
          <a:noFill/>
          <a:ln/>
        </p:spPr>
        <p:txBody>
          <a:bodyPr wrap="square" lIns="0" tIns="0" rIns="0" bIns="0" rtlCol="0" anchor="ctr"/>
          <a:lstStyle/>
          <a:p>
            <a:pPr indent="0" marL="0">
              <a:buNone/>
            </a:pPr>
            <a:r>
              <a:rPr lang="en-US" sz="4400" b="1" dirty="0">
                <a:solidFill>
                  <a:schemeClr val="accent3"/>
                </a:solidFill>
                <a:latin typeface="Cambria" pitchFamily="34" charset="0"/>
                <a:ea typeface="Cambria" pitchFamily="34" charset="-122"/>
                <a:cs typeface="Cambria" pitchFamily="34" charset="-120"/>
              </a:rPr>
              <a:t>3 hops</a:t>
            </a:r>
            <a:endParaRPr lang="en-US" sz="4400" dirty="0"/>
          </a:p>
        </p:txBody>
      </p:sp>
      <p:sp>
        <p:nvSpPr>
          <p:cNvPr id="10" name="Text 8"/>
          <p:cNvSpPr txBox="1"/>
          <p:nvPr/>
        </p:nvSpPr>
        <p:spPr>
          <a:xfrm>
            <a:off x="9235440" y="2286000"/>
            <a:ext cx="2377440" cy="731520"/>
          </a:xfrm>
          <a:prstGeom prst="rect">
            <a:avLst/>
          </a:prstGeom>
          <a:noFill/>
          <a:ln/>
        </p:spPr>
        <p:txBody>
          <a:bodyPr wrap="square" lIns="0" tIns="0" rIns="0" bIns="0" rtlCol="0" anchor="t"/>
          <a:lstStyle/>
          <a:p>
            <a:pPr indent="0" marL="0">
              <a:buNone/>
            </a:pPr>
            <a:r>
              <a:rPr lang="en-US" sz="1300" dirty="0">
                <a:solidFill>
                  <a:schemeClr val="tx1"/>
                </a:solidFill>
              </a:rPr>
              <a:t>the longest path we trace, from role to role to the data</a:t>
            </a:r>
            <a:endParaRPr lang="en-US" sz="1300" dirty="0"/>
          </a:p>
        </p:txBody>
      </p:sp>
      <p:sp>
        <p:nvSpPr>
          <p:cNvPr id="11" name="df7-card"/>
          <p:cNvSpPr/>
          <p:nvPr/>
        </p:nvSpPr>
        <p:spPr>
          <a:xfrm>
            <a:off x="548640" y="3657600"/>
            <a:ext cx="11064240" cy="2286000"/>
          </a:xfrm>
          <a:prstGeom prst="rect">
            <a:avLst/>
          </a:prstGeom>
          <a:solidFill>
            <a:schemeClr val="bg2"/>
          </a:solidFill>
          <a:ln w="12700">
            <a:solidFill>
              <a:schemeClr val="bg2"/>
            </a:solidFill>
            <a:prstDash val="solid"/>
          </a:ln>
        </p:spPr>
      </p:sp>
      <p:sp>
        <p:nvSpPr>
          <p:cNvPr id="12" name="Text 10"/>
          <p:cNvSpPr txBox="1"/>
          <p:nvPr/>
        </p:nvSpPr>
        <p:spPr>
          <a:xfrm>
            <a:off x="777240" y="3840480"/>
            <a:ext cx="10607040" cy="2011680"/>
          </a:xfrm>
          <a:prstGeom prst="rect">
            <a:avLst/>
          </a:prstGeom>
          <a:noFill/>
          <a:ln/>
        </p:spPr>
        <p:txBody>
          <a:bodyPr wrap="square" rtlCol="0" anchor="t"/>
          <a:lstStyle/>
          <a:p>
            <a:pPr marL="342900" indent="-342900">
              <a:spcAft>
                <a:spcPts val="1000"/>
              </a:spcAft>
              <a:buSzPct val="100000"/>
              <a:buChar char="•"/>
            </a:pPr>
            <a:r>
              <a:rPr lang="en-US" sz="1600" dirty="0">
                <a:solidFill>
                  <a:schemeClr val="tx1"/>
                </a:solidFill>
              </a:rPr>
              <a:t>Rules catch properties. Graphs catch paths. We built both and put them in one loop.</a:t>
            </a:r>
            <a:endParaRPr lang="en-US" sz="1600" dirty="0"/>
          </a:p>
          <a:p>
            <a:pPr marL="342900" indent="-342900">
              <a:spcAft>
                <a:spcPts val="1000"/>
              </a:spcAft>
              <a:buSzPct val="100000"/>
              <a:buChar char="•"/>
            </a:pPr>
            <a:r>
              <a:rPr lang="en-US" sz="1600" dirty="0">
                <a:solidFill>
                  <a:schemeClr val="tx1"/>
                </a:solidFill>
              </a:rPr>
              <a:t>The path is individually compliant at every hop, so a per-resource engine has nothing to flag. We flag the chain.</a:t>
            </a:r>
            <a:endParaRPr lang="en-US" sz="1600" dirty="0"/>
          </a:p>
          <a:p>
            <a:pPr marL="342900" indent="-342900">
              <a:spcAft>
                <a:spcPts val="1000"/>
              </a:spcAft>
              <a:buSzPct val="100000"/>
              <a:buChar char="•"/>
            </a:pPr>
            <a:r>
              <a:rPr lang="en-US" sz="1600" dirty="0">
                <a:solidFill>
                  <a:schemeClr val="tx1"/>
                </a:solidFill>
              </a:rPr>
              <a:t>We then prove the repair: removing the reference between two roles resolves the finding, and the stored counterfactual says so.</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We pick the right option set for 23 of 24 estates</a:t>
            </a:r>
            <a:endParaRPr lang="en-US" sz="3000" dirty="0"/>
          </a:p>
        </p:txBody>
      </p:sp>
      <p:graphicFrame>
        <p:nvGraphicFramePr>
          <p:cNvPr id="3" name="Chart 0" descr=""/>
          <p:cNvGraphicFramePr/>
          <p:nvPr/>
        </p:nvGraphicFramePr>
        <p:xfrm>
          <a:off x="548640" y="128016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589520" y="1463040"/>
            <a:ext cx="4114800" cy="4572000"/>
          </a:xfrm>
          <a:prstGeom prst="rect">
            <a:avLst/>
          </a:prstGeom>
          <a:noFill/>
          <a:ln/>
        </p:spPr>
        <p:txBody>
          <a:bodyPr wrap="square" rtlCol="0" anchor="t"/>
          <a:lstStyle/>
          <a:p>
            <a:pPr marL="342900" indent="-342900">
              <a:spcAft>
                <a:spcPts val="1000"/>
              </a:spcAft>
              <a:buSzPct val="100000"/>
              <a:buChar char="•"/>
            </a:pPr>
            <a:r>
              <a:rPr lang="en-US" sz="1400" dirty="0">
                <a:solidFill>
                  <a:schemeClr val="tx1"/>
                </a:solidFill>
              </a:rPr>
              <a:t>Popularity gets 0.000. Per-archetype gets 0.208. Our model gets 0.958, even from reconstructed intent.</a:t>
            </a:r>
            <a:endParaRPr lang="en-US" sz="1400" dirty="0"/>
          </a:p>
          <a:p>
            <a:pPr marL="342900" indent="-342900">
              <a:spcAft>
                <a:spcPts val="1000"/>
              </a:spcAft>
              <a:buSzPct val="100000"/>
              <a:buChar char="•"/>
            </a:pPr>
            <a:r>
              <a:rPr lang="en-US" sz="1400" dirty="0">
                <a:solidFill>
                  <a:schemeClr val="tx1"/>
                </a:solidFill>
              </a:rPr>
              <a:t>R-precision: model 1.000, popularity 0.858.</a:t>
            </a:r>
            <a:endParaRPr lang="en-US" sz="1400" dirty="0"/>
          </a:p>
          <a:p>
            <a:pPr marL="342900" indent="-342900">
              <a:spcAft>
                <a:spcPts val="1000"/>
              </a:spcAft>
              <a:buSzPct val="100000"/>
              <a:buChar char="•"/>
            </a:pPr>
            <a:r>
              <a:rPr lang="en-US" sz="1400" dirty="0">
                <a:solidFill>
                  <a:schemeClr val="tx1"/>
                </a:solidFill>
              </a:rPr>
              <a:t>Our CRITICAL mask removed the one illegal option in the pool (aws_db_instance storage_encrypted False), even when we forced it to rank first.</a:t>
            </a:r>
            <a:endParaRPr lang="en-US" sz="1400" dirty="0"/>
          </a:p>
          <a:p>
            <a:pPr marL="342900" indent="-342900">
              <a:spcAft>
                <a:spcPts val="1000"/>
              </a:spcAft>
              <a:buSzPct val="100000"/>
              <a:buChar char="•"/>
            </a:pPr>
            <a:r>
              <a:rPr lang="en-US" sz="1400" dirty="0">
                <a:solidFill>
                  <a:schemeClr val="tx1"/>
                </a:solidFill>
              </a:rPr>
              <a:t>We also trained a graph neural network as a challenger on 4 corpora. It tied the random forest, so we kept the simpler model.</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Our advisor never caved to pressure</a:t>
            </a:r>
            <a:endParaRPr lang="en-US" sz="3000" dirty="0"/>
          </a:p>
        </p:txBody>
      </p:sp>
      <p:sp>
        <p:nvSpPr>
          <p:cNvPr id="3" name="gate-card"/>
          <p:cNvSpPr/>
          <p:nvPr/>
        </p:nvSpPr>
        <p:spPr>
          <a:xfrm>
            <a:off x="548640" y="1371600"/>
            <a:ext cx="11064240" cy="2377440"/>
          </a:xfrm>
          <a:prstGeom prst="rect">
            <a:avLst/>
          </a:prstGeom>
          <a:solidFill>
            <a:schemeClr val="bg2"/>
          </a:solidFill>
          <a:ln w="12700">
            <a:solidFill>
              <a:schemeClr val="bg2"/>
            </a:solidFill>
            <a:prstDash val="solid"/>
          </a:ln>
        </p:spPr>
      </p:sp>
      <p:sp>
        <p:nvSpPr>
          <p:cNvPr id="4" name="chip-gatepass"/>
          <p:cNvSpPr txBox="1"/>
          <p:nvPr/>
        </p:nvSpPr>
        <p:spPr>
          <a:xfrm>
            <a:off x="777240" y="1554480"/>
            <a:ext cx="1828800" cy="292608"/>
          </a:xfrm>
          <a:prstGeom prst="roundRect">
            <a:avLst>
              <a:gd name="adj" fmla="val 15625"/>
            </a:avLst>
          </a:prstGeom>
          <a:solidFill>
            <a:schemeClr val="accent1"/>
          </a:solidFill>
          <a:ln/>
        </p:spPr>
        <p:txBody>
          <a:bodyPr wrap="square" lIns="0" tIns="0" rIns="0" bIns="0" rtlCol="0" anchor="ctr"/>
          <a:lstStyle/>
          <a:p>
            <a:pPr algn="ctr" indent="0" marL="0">
              <a:buNone/>
            </a:pPr>
            <a:r>
              <a:rPr lang="en-US" sz="1100" b="1" dirty="0">
                <a:solidFill>
                  <a:schemeClr val="bg1"/>
                </a:solidFill>
              </a:rPr>
              <a:t>Gate passed</a:t>
            </a:r>
            <a:endParaRPr lang="en-US" sz="1100" dirty="0"/>
          </a:p>
        </p:txBody>
      </p:sp>
      <p:sp>
        <p:nvSpPr>
          <p:cNvPr id="5" name="Text 3"/>
          <p:cNvSpPr txBox="1"/>
          <p:nvPr/>
        </p:nvSpPr>
        <p:spPr>
          <a:xfrm>
            <a:off x="2788920" y="1527048"/>
            <a:ext cx="859536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The sycophancy gate, the roadmap's hard gate</a:t>
            </a:r>
            <a:endParaRPr lang="en-US" sz="1800" dirty="0"/>
          </a:p>
        </p:txBody>
      </p:sp>
      <p:sp>
        <p:nvSpPr>
          <p:cNvPr id="6" name="Text 4"/>
          <p:cNvSpPr txBox="1"/>
          <p:nvPr/>
        </p:nvSpPr>
        <p:spPr>
          <a:xfrm>
            <a:off x="777240" y="2057400"/>
            <a:ext cx="10607040" cy="1645920"/>
          </a:xfrm>
          <a:prstGeom prst="rect">
            <a:avLst/>
          </a:prstGeom>
          <a:noFill/>
          <a:ln/>
        </p:spPr>
        <p:txBody>
          <a:bodyPr wrap="square" rtlCol="0" anchor="t"/>
          <a:lstStyle/>
          <a:p>
            <a:pPr marL="342900" indent="-342900">
              <a:spcAft>
                <a:spcPts val="800"/>
              </a:spcAft>
              <a:buSzPct val="100000"/>
              <a:buChar char="•"/>
            </a:pPr>
            <a:r>
              <a:rPr lang="en-US" sz="1500" dirty="0">
                <a:solidFill>
                  <a:schemeClr val="tx1"/>
                </a:solidFill>
              </a:rPr>
              <a:t>We hand the model the same non-compliant spec three times, with rising pressure to withdraw its findings. To pass, every one of the model's own findings has to survive.</a:t>
            </a:r>
            <a:endParaRPr lang="en-US" sz="1500" dirty="0"/>
          </a:p>
          <a:p>
            <a:pPr marL="342900" indent="-342900">
              <a:spcAft>
                <a:spcPts val="800"/>
              </a:spcAft>
              <a:buSzPct val="100000"/>
              <a:buChar char="•"/>
            </a:pPr>
            <a:r>
              <a:rPr lang="en-US" sz="1500" dirty="0">
                <a:solidFill>
                  <a:schemeClr val="tx1"/>
                </a:solidFill>
              </a:rPr>
              <a:t>It passed on 3 valid trials, live. And offline, a scripted model that caves fails our gate, so we know the gate can fail.</a:t>
            </a:r>
            <a:endParaRPr lang="en-US" sz="1500" dirty="0"/>
          </a:p>
        </p:txBody>
      </p:sp>
      <p:sp>
        <p:nvSpPr>
          <p:cNvPr id="7" name="Text 5"/>
          <p:cNvSpPr txBox="1"/>
          <p:nvPr/>
        </p:nvSpPr>
        <p:spPr>
          <a:xfrm>
            <a:off x="548640" y="4023360"/>
            <a:ext cx="310896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16</a:t>
            </a:r>
            <a:endParaRPr lang="en-US" sz="4400" dirty="0"/>
          </a:p>
        </p:txBody>
      </p:sp>
      <p:sp>
        <p:nvSpPr>
          <p:cNvPr id="8" name="Text 6"/>
          <p:cNvSpPr txBox="1"/>
          <p:nvPr/>
        </p:nvSpPr>
        <p:spPr>
          <a:xfrm>
            <a:off x="548640" y="4846320"/>
            <a:ext cx="3108960" cy="731520"/>
          </a:xfrm>
          <a:prstGeom prst="rect">
            <a:avLst/>
          </a:prstGeom>
          <a:noFill/>
          <a:ln/>
        </p:spPr>
        <p:txBody>
          <a:bodyPr wrap="square" lIns="0" tIns="0" rIns="0" bIns="0" rtlCol="0" anchor="t"/>
          <a:lstStyle/>
          <a:p>
            <a:pPr indent="0" marL="0">
              <a:buNone/>
            </a:pPr>
            <a:r>
              <a:rPr lang="en-US" sz="1300" dirty="0">
                <a:solidFill>
                  <a:schemeClr val="tx1"/>
                </a:solidFill>
              </a:rPr>
              <a:t>live model calls, every one recorded and replayable</a:t>
            </a:r>
            <a:endParaRPr lang="en-US" sz="1300" dirty="0"/>
          </a:p>
        </p:txBody>
      </p:sp>
      <p:sp>
        <p:nvSpPr>
          <p:cNvPr id="9" name="Text 7"/>
          <p:cNvSpPr txBox="1"/>
          <p:nvPr/>
        </p:nvSpPr>
        <p:spPr>
          <a:xfrm>
            <a:off x="3931920" y="4023360"/>
            <a:ext cx="347472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100%</a:t>
            </a:r>
            <a:endParaRPr lang="en-US" sz="4400" dirty="0"/>
          </a:p>
        </p:txBody>
      </p:sp>
      <p:sp>
        <p:nvSpPr>
          <p:cNvPr id="10" name="Text 8"/>
          <p:cNvSpPr txBox="1"/>
          <p:nvPr/>
        </p:nvSpPr>
        <p:spPr>
          <a:xfrm>
            <a:off x="3931920" y="4846320"/>
            <a:ext cx="3474720" cy="731520"/>
          </a:xfrm>
          <a:prstGeom prst="rect">
            <a:avLst/>
          </a:prstGeom>
          <a:noFill/>
          <a:ln/>
        </p:spPr>
        <p:txBody>
          <a:bodyPr wrap="square" lIns="0" tIns="0" rIns="0" bIns="0" rtlCol="0" anchor="t"/>
          <a:lstStyle/>
          <a:p>
            <a:pPr indent="0" marL="0">
              <a:buNone/>
            </a:pPr>
            <a:r>
              <a:rPr lang="en-US" sz="1300" dirty="0">
                <a:solidFill>
                  <a:schemeClr val="tx1"/>
                </a:solidFill>
              </a:rPr>
              <a:t>of the model's own findings persisted under pressure</a:t>
            </a:r>
            <a:endParaRPr lang="en-US" sz="1300" dirty="0"/>
          </a:p>
        </p:txBody>
      </p:sp>
      <p:sp>
        <p:nvSpPr>
          <p:cNvPr id="11" name="Text 9"/>
          <p:cNvSpPr txBox="1"/>
          <p:nvPr/>
        </p:nvSpPr>
        <p:spPr>
          <a:xfrm>
            <a:off x="7772400" y="4023360"/>
            <a:ext cx="3840480" cy="822960"/>
          </a:xfrm>
          <a:prstGeom prst="rect">
            <a:avLst/>
          </a:prstGeom>
          <a:noFill/>
          <a:ln/>
        </p:spPr>
        <p:txBody>
          <a:bodyPr wrap="square" lIns="0" tIns="0" rIns="0" bIns="0" rtlCol="0" anchor="ctr"/>
          <a:lstStyle/>
          <a:p>
            <a:pPr indent="0" marL="0">
              <a:buNone/>
            </a:pPr>
            <a:r>
              <a:rPr lang="en-US" sz="4400" b="1" dirty="0">
                <a:solidFill>
                  <a:schemeClr val="accent3"/>
                </a:solidFill>
                <a:latin typeface="Cambria" pitchFamily="34" charset="0"/>
                <a:ea typeface="Cambria" pitchFamily="34" charset="-122"/>
                <a:cs typeface="Cambria" pitchFamily="34" charset="-120"/>
              </a:rPr>
              <a:t>0</a:t>
            </a:r>
            <a:endParaRPr lang="en-US" sz="4400" dirty="0"/>
          </a:p>
        </p:txBody>
      </p:sp>
      <p:sp>
        <p:nvSpPr>
          <p:cNvPr id="12" name="Text 10"/>
          <p:cNvSpPr txBox="1"/>
          <p:nvPr/>
        </p:nvSpPr>
        <p:spPr>
          <a:xfrm>
            <a:off x="7772400" y="4846320"/>
            <a:ext cx="3840480" cy="731520"/>
          </a:xfrm>
          <a:prstGeom prst="rect">
            <a:avLst/>
          </a:prstGeom>
          <a:noFill/>
          <a:ln/>
        </p:spPr>
        <p:txBody>
          <a:bodyPr wrap="square" lIns="0" tIns="0" rIns="0" bIns="0" rtlCol="0" anchor="t"/>
          <a:lstStyle/>
          <a:p>
            <a:pPr indent="0" marL="0">
              <a:buNone/>
            </a:pPr>
            <a:r>
              <a:rPr lang="en-US" sz="1300" dirty="0">
                <a:solidFill>
                  <a:schemeClr val="tx1"/>
                </a:solidFill>
              </a:rPr>
              <a:t>findings quietly withdrawn: we carry them forward and never drop a CRITICAL silently</a:t>
            </a:r>
            <a:endParaRPr lang="en-US" sz="13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We reconstruct intent, and we know when we are unsure</a:t>
            </a:r>
            <a:endParaRPr lang="en-US" sz="3000" dirty="0"/>
          </a:p>
        </p:txBody>
      </p:sp>
      <p:graphicFrame>
        <p:nvGraphicFramePr>
          <p:cNvPr id="3" name="Chart 0" descr=""/>
          <p:cNvGraphicFramePr/>
          <p:nvPr/>
        </p:nvGraphicFramePr>
        <p:xfrm>
          <a:off x="548640" y="128016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589520" y="1463040"/>
            <a:ext cx="4114800" cy="4572000"/>
          </a:xfrm>
          <a:prstGeom prst="rect">
            <a:avLst/>
          </a:prstGeom>
          <a:noFill/>
          <a:ln/>
        </p:spPr>
        <p:txBody>
          <a:bodyPr wrap="square" rtlCol="0" anchor="t"/>
          <a:lstStyle/>
          <a:p>
            <a:pPr marL="342900" indent="-342900">
              <a:spcAft>
                <a:spcPts val="1000"/>
              </a:spcAft>
              <a:buSzPct val="100000"/>
              <a:buChar char="•"/>
            </a:pPr>
            <a:r>
              <a:rPr lang="en-US" sz="1400" dirty="0">
                <a:solidFill>
                  <a:schemeClr val="tx1"/>
                </a:solidFill>
              </a:rPr>
              <a:t>Five of seven intent axes come back at 0.875 accuracy or better, from structure alone.</a:t>
            </a:r>
            <a:endParaRPr lang="en-US" sz="1400" dirty="0"/>
          </a:p>
          <a:p>
            <a:pPr marL="342900" indent="-342900">
              <a:spcAft>
                <a:spcPts val="1000"/>
              </a:spcAft>
              <a:buSzPct val="100000"/>
              <a:buChar char="•"/>
            </a:pPr>
            <a:r>
              <a:rPr lang="en-US" sz="1400" dirty="0">
                <a:solidFill>
                  <a:schemeClr val="tx1"/>
                </a:solidFill>
              </a:rPr>
              <a:t>Where the estate leaves no trace (iam shape, ECE 0.282), we measure the overconfidence and escalate to the user instead of guessing.</a:t>
            </a:r>
            <a:endParaRPr lang="en-US" sz="1400" dirty="0"/>
          </a:p>
          <a:p>
            <a:pPr marL="342900" indent="-342900">
              <a:spcAft>
                <a:spcPts val="1000"/>
              </a:spcAft>
              <a:buSzPct val="100000"/>
              <a:buChar char="•"/>
            </a:pPr>
            <a:r>
              <a:rPr lang="en-US" sz="1400" dirty="0">
                <a:solidFill>
                  <a:schemeClr val="tx1"/>
                </a:solidFill>
              </a:rPr>
              <a:t>Low-confidence fields are never silently assumed. That is the design, not a patch.</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Every finding ships with its path and a tested fix</a:t>
            </a:r>
            <a:endParaRPr lang="en-US" sz="3000" dirty="0"/>
          </a:p>
        </p:txBody>
      </p:sp>
      <p:sp>
        <p:nvSpPr>
          <p:cNvPr id="3" name="Text 1"/>
          <p:cNvSpPr txBox="1"/>
          <p:nvPr/>
        </p:nvSpPr>
        <p:spPr>
          <a:xfrm>
            <a:off x="548640" y="1463040"/>
            <a:ext cx="347472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12/12</a:t>
            </a:r>
            <a:endParaRPr lang="en-US" sz="4400" dirty="0"/>
          </a:p>
        </p:txBody>
      </p:sp>
      <p:sp>
        <p:nvSpPr>
          <p:cNvPr id="4" name="Text 2"/>
          <p:cNvSpPr txBox="1"/>
          <p:nvPr/>
        </p:nvSpPr>
        <p:spPr>
          <a:xfrm>
            <a:off x="548640" y="2286000"/>
            <a:ext cx="3474720" cy="731520"/>
          </a:xfrm>
          <a:prstGeom prst="rect">
            <a:avLst/>
          </a:prstGeom>
          <a:noFill/>
          <a:ln/>
        </p:spPr>
        <p:txBody>
          <a:bodyPr wrap="square" lIns="0" tIns="0" rIns="0" bIns="0" rtlCol="0" anchor="t"/>
          <a:lstStyle/>
          <a:p>
            <a:pPr indent="0" marL="0">
              <a:buNone/>
            </a:pPr>
            <a:r>
              <a:rPr lang="en-US" sz="1300" dirty="0">
                <a:solidFill>
                  <a:schemeClr val="tx1"/>
                </a:solidFill>
              </a:rPr>
              <a:t>explanation bundles whose claims are identical for architect, auditor and learner</a:t>
            </a:r>
            <a:endParaRPr lang="en-US" sz="1300" dirty="0"/>
          </a:p>
        </p:txBody>
      </p:sp>
      <p:sp>
        <p:nvSpPr>
          <p:cNvPr id="5" name="Text 3"/>
          <p:cNvSpPr txBox="1"/>
          <p:nvPr/>
        </p:nvSpPr>
        <p:spPr>
          <a:xfrm>
            <a:off x="4297680" y="1463040"/>
            <a:ext cx="356616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4/4</a:t>
            </a:r>
            <a:endParaRPr lang="en-US" sz="4400" dirty="0"/>
          </a:p>
        </p:txBody>
      </p:sp>
      <p:sp>
        <p:nvSpPr>
          <p:cNvPr id="6" name="Text 4"/>
          <p:cNvSpPr txBox="1"/>
          <p:nvPr/>
        </p:nvSpPr>
        <p:spPr>
          <a:xfrm>
            <a:off x="4297680" y="2286000"/>
            <a:ext cx="3566160" cy="731520"/>
          </a:xfrm>
          <a:prstGeom prst="rect">
            <a:avLst/>
          </a:prstGeom>
          <a:noFill/>
          <a:ln/>
        </p:spPr>
        <p:txBody>
          <a:bodyPr wrap="square" lIns="0" tIns="0" rIns="0" bIns="0" rtlCol="0" anchor="t"/>
          <a:lstStyle/>
          <a:p>
            <a:pPr indent="0" marL="0">
              <a:buNone/>
            </a:pPr>
            <a:r>
              <a:rPr lang="en-US" sz="1300" dirty="0">
                <a:solidFill>
                  <a:schemeClr val="tx1"/>
                </a:solidFill>
              </a:rPr>
              <a:t>counterfactuals that matched the outcome our advisor loop observed after the repair</a:t>
            </a:r>
            <a:endParaRPr lang="en-US" sz="1300" dirty="0"/>
          </a:p>
        </p:txBody>
      </p:sp>
      <p:sp>
        <p:nvSpPr>
          <p:cNvPr id="7" name="Text 5"/>
          <p:cNvSpPr txBox="1"/>
          <p:nvPr/>
        </p:nvSpPr>
        <p:spPr>
          <a:xfrm>
            <a:off x="8138160" y="1463040"/>
            <a:ext cx="347472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7.8%</a:t>
            </a:r>
            <a:endParaRPr lang="en-US" sz="4400" dirty="0"/>
          </a:p>
        </p:txBody>
      </p:sp>
      <p:sp>
        <p:nvSpPr>
          <p:cNvPr id="8" name="Text 6"/>
          <p:cNvSpPr txBox="1"/>
          <p:nvPr/>
        </p:nvSpPr>
        <p:spPr>
          <a:xfrm>
            <a:off x="8138160" y="2286000"/>
            <a:ext cx="3474720" cy="731520"/>
          </a:xfrm>
          <a:prstGeom prst="rect">
            <a:avLst/>
          </a:prstGeom>
          <a:noFill/>
          <a:ln/>
        </p:spPr>
        <p:txBody>
          <a:bodyPr wrap="square" lIns="0" tIns="0" rIns="0" bIns="0" rtlCol="0" anchor="t"/>
          <a:lstStyle/>
          <a:p>
            <a:pPr indent="0" marL="0">
              <a:buNone/>
            </a:pPr>
            <a:r>
              <a:rPr lang="en-US" sz="1300" dirty="0">
                <a:solidFill>
                  <a:schemeClr val="tx1"/>
                </a:solidFill>
              </a:rPr>
              <a:t>of an estate's resources appear in the evidence of a finding, on average</a:t>
            </a:r>
            <a:endParaRPr lang="en-US" sz="1300" dirty="0"/>
          </a:p>
        </p:txBody>
      </p:sp>
      <p:sp>
        <p:nvSpPr>
          <p:cNvPr id="9" name="explainer-card"/>
          <p:cNvSpPr/>
          <p:nvPr/>
        </p:nvSpPr>
        <p:spPr>
          <a:xfrm>
            <a:off x="548640" y="3657600"/>
            <a:ext cx="11064240" cy="2286000"/>
          </a:xfrm>
          <a:prstGeom prst="rect">
            <a:avLst/>
          </a:prstGeom>
          <a:solidFill>
            <a:schemeClr val="bg2"/>
          </a:solidFill>
          <a:ln w="12700">
            <a:solidFill>
              <a:schemeClr val="bg2"/>
            </a:solidFill>
            <a:prstDash val="solid"/>
          </a:ln>
        </p:spPr>
      </p:sp>
      <p:sp>
        <p:nvSpPr>
          <p:cNvPr id="10" name="Text 8"/>
          <p:cNvSpPr txBox="1"/>
          <p:nvPr/>
        </p:nvSpPr>
        <p:spPr>
          <a:xfrm>
            <a:off x="777240" y="3840480"/>
            <a:ext cx="10607040" cy="2011680"/>
          </a:xfrm>
          <a:prstGeom prst="rect">
            <a:avLst/>
          </a:prstGeom>
          <a:noFill/>
          <a:ln/>
        </p:spPr>
        <p:txBody>
          <a:bodyPr wrap="square" rtlCol="0" anchor="t"/>
          <a:lstStyle/>
          <a:p>
            <a:pPr marL="342900" indent="-342900">
              <a:spcAft>
                <a:spcPts val="1000"/>
              </a:spcAft>
              <a:buSzPct val="100000"/>
              <a:buChar char="•"/>
            </a:pPr>
            <a:r>
              <a:rPr lang="en-US" sz="1600" dirty="0">
                <a:solidFill>
                  <a:schemeClr val="tx1"/>
                </a:solidFill>
              </a:rPr>
              <a:t>No model writes the explanation. We render a template from the stored bundle, so there is nothing to hallucinate.</a:t>
            </a:r>
            <a:endParaRPr lang="en-US" sz="1600" dirty="0"/>
          </a:p>
          <a:p>
            <a:pPr marL="342900" indent="-342900">
              <a:spcAft>
                <a:spcPts val="1000"/>
              </a:spcAft>
              <a:buSzPct val="100000"/>
              <a:buChar char="•"/>
            </a:pPr>
            <a:r>
              <a:rPr lang="en-US" sz="1600" dirty="0">
                <a:solidFill>
                  <a:schemeClr val="tx1"/>
                </a:solidFill>
              </a:rPr>
              <a:t>Our test extracts the claims back out of the rendered text and checks the three audiences agree. It passes for every defect variant and every design.</a:t>
            </a:r>
            <a:endParaRPr lang="en-US" sz="1600" dirty="0"/>
          </a:p>
          <a:p>
            <a:pPr marL="342900" indent="-342900">
              <a:spcAft>
                <a:spcPts val="1000"/>
              </a:spcAft>
              <a:buSzPct val="100000"/>
              <a:buChar char="•"/>
            </a:pPr>
            <a:r>
              <a:rPr lang="en-US" sz="1600" dirty="0">
                <a:solidFill>
                  <a:schemeClr val="tx1"/>
                </a:solidFill>
              </a:rPr>
              <a:t>Every explanation says what it cannot know, for example that cost is not modelled for review mode.</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We checked our work against code we did not write</a:t>
            </a:r>
            <a:endParaRPr lang="en-US" sz="3000" dirty="0"/>
          </a:p>
        </p:txBody>
      </p:sp>
      <p:sp>
        <p:nvSpPr>
          <p:cNvPr id="3" name="outside-0"/>
          <p:cNvSpPr/>
          <p:nvPr/>
        </p:nvSpPr>
        <p:spPr>
          <a:xfrm>
            <a:off x="548640" y="1371600"/>
            <a:ext cx="5394960" cy="2240280"/>
          </a:xfrm>
          <a:prstGeom prst="rect">
            <a:avLst/>
          </a:prstGeom>
          <a:solidFill>
            <a:schemeClr val="bg2"/>
          </a:solidFill>
          <a:ln w="12700">
            <a:solidFill>
              <a:schemeClr val="bg2"/>
            </a:solidFill>
            <a:prstDash val="solid"/>
          </a:ln>
        </p:spPr>
      </p:sp>
      <p:sp>
        <p:nvSpPr>
          <p:cNvPr id="4" name="Text 2"/>
          <p:cNvSpPr txBox="1"/>
          <p:nvPr/>
        </p:nvSpPr>
        <p:spPr>
          <a:xfrm>
            <a:off x="777240" y="1508760"/>
            <a:ext cx="1737360" cy="91440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803</a:t>
            </a:r>
            <a:endParaRPr lang="en-US" sz="4400" dirty="0"/>
          </a:p>
        </p:txBody>
      </p:sp>
      <p:sp>
        <p:nvSpPr>
          <p:cNvPr id="5" name="Text 3"/>
          <p:cNvSpPr txBox="1"/>
          <p:nvPr/>
        </p:nvSpPr>
        <p:spPr>
          <a:xfrm>
            <a:off x="2606040" y="1554480"/>
            <a:ext cx="3154680" cy="1874520"/>
          </a:xfrm>
          <a:prstGeom prst="rect">
            <a:avLst/>
          </a:prstGeom>
          <a:noFill/>
          <a:ln/>
        </p:spPr>
        <p:txBody>
          <a:bodyPr wrap="square" lIns="0" tIns="0" rIns="0" bIns="0" rtlCol="0" anchor="t"/>
          <a:lstStyle/>
          <a:p>
            <a:pPr indent="0" marL="0">
              <a:buNone/>
            </a:pPr>
            <a:r>
              <a:rPr lang="en-US" sz="1400" dirty="0">
                <a:solidFill>
                  <a:schemeClr val="tx1"/>
                </a:solidFill>
              </a:rPr>
              <a:t>AWS resources parsed from TerraGoat and CloudGoat, deliberately vulnerable repositories we did not author. We parse them and never execute them.</a:t>
            </a:r>
            <a:endParaRPr lang="en-US" sz="1400" dirty="0"/>
          </a:p>
        </p:txBody>
      </p:sp>
      <p:sp>
        <p:nvSpPr>
          <p:cNvPr id="6" name="outside-1"/>
          <p:cNvSpPr/>
          <p:nvPr/>
        </p:nvSpPr>
        <p:spPr>
          <a:xfrm>
            <a:off x="6126480" y="1371600"/>
            <a:ext cx="5394960" cy="2240280"/>
          </a:xfrm>
          <a:prstGeom prst="rect">
            <a:avLst/>
          </a:prstGeom>
          <a:solidFill>
            <a:schemeClr val="bg2"/>
          </a:solidFill>
          <a:ln w="12700">
            <a:solidFill>
              <a:schemeClr val="bg2"/>
            </a:solidFill>
            <a:prstDash val="solid"/>
          </a:ln>
        </p:spPr>
      </p:sp>
      <p:sp>
        <p:nvSpPr>
          <p:cNvPr id="7" name="Text 5"/>
          <p:cNvSpPr txBox="1"/>
          <p:nvPr/>
        </p:nvSpPr>
        <p:spPr>
          <a:xfrm>
            <a:off x="6355080" y="1508760"/>
            <a:ext cx="1737360" cy="91440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2</a:t>
            </a:r>
            <a:endParaRPr lang="en-US" sz="4400" dirty="0"/>
          </a:p>
        </p:txBody>
      </p:sp>
      <p:sp>
        <p:nvSpPr>
          <p:cNvPr id="8" name="Text 6"/>
          <p:cNvSpPr txBox="1"/>
          <p:nvPr/>
        </p:nvSpPr>
        <p:spPr>
          <a:xfrm>
            <a:off x="8183880" y="1554480"/>
            <a:ext cx="3154680" cy="1874520"/>
          </a:xfrm>
          <a:prstGeom prst="rect">
            <a:avLst/>
          </a:prstGeom>
          <a:noFill/>
          <a:ln/>
        </p:spPr>
        <p:txBody>
          <a:bodyPr wrap="square" lIns="0" tIns="0" rIns="0" bIns="0" rtlCol="0" anchor="t"/>
          <a:lstStyle/>
          <a:p>
            <a:pPr indent="0" marL="0">
              <a:buNone/>
            </a:pPr>
            <a:r>
              <a:rPr lang="en-US" sz="1400" dirty="0">
                <a:solidFill>
                  <a:schemeClr val="tx1"/>
                </a:solidFill>
              </a:rPr>
              <a:t>independent labellers, Checkov 3.3.8 and Trivy 0.75.0, compared with our rule floor by Cohen's kappa. Kappa is 1.0 on three of four defect families.</a:t>
            </a:r>
            <a:endParaRPr lang="en-US" sz="1400" dirty="0"/>
          </a:p>
        </p:txBody>
      </p:sp>
      <p:sp>
        <p:nvSpPr>
          <p:cNvPr id="9" name="outside-2"/>
          <p:cNvSpPr/>
          <p:nvPr/>
        </p:nvSpPr>
        <p:spPr>
          <a:xfrm>
            <a:off x="548640" y="3840480"/>
            <a:ext cx="5394960" cy="2240280"/>
          </a:xfrm>
          <a:prstGeom prst="rect">
            <a:avLst/>
          </a:prstGeom>
          <a:solidFill>
            <a:schemeClr val="bg2"/>
          </a:solidFill>
          <a:ln w="12700">
            <a:solidFill>
              <a:schemeClr val="bg2"/>
            </a:solidFill>
            <a:prstDash val="solid"/>
          </a:ln>
        </p:spPr>
      </p:sp>
      <p:sp>
        <p:nvSpPr>
          <p:cNvPr id="10" name="Text 8"/>
          <p:cNvSpPr txBox="1"/>
          <p:nvPr/>
        </p:nvSpPr>
        <p:spPr>
          <a:xfrm>
            <a:off x="777240" y="3977640"/>
            <a:ext cx="1737360" cy="91440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9</a:t>
            </a:r>
            <a:endParaRPr lang="en-US" sz="4400" dirty="0"/>
          </a:p>
        </p:txBody>
      </p:sp>
      <p:sp>
        <p:nvSpPr>
          <p:cNvPr id="11" name="Text 9"/>
          <p:cNvSpPr txBox="1"/>
          <p:nvPr/>
        </p:nvSpPr>
        <p:spPr>
          <a:xfrm>
            <a:off x="2606040" y="4023360"/>
            <a:ext cx="3154680" cy="1874520"/>
          </a:xfrm>
          <a:prstGeom prst="rect">
            <a:avLst/>
          </a:prstGeom>
          <a:noFill/>
          <a:ln/>
        </p:spPr>
        <p:txBody>
          <a:bodyPr wrap="square" lIns="0" tIns="0" rIns="0" bIns="0" rtlCol="0" anchor="t"/>
          <a:lstStyle/>
          <a:p>
            <a:pPr indent="0" marL="0">
              <a:buNone/>
            </a:pPr>
            <a:r>
              <a:rPr lang="en-US" sz="1400" dirty="0">
                <a:solidFill>
                  <a:schemeClr val="tx1"/>
                </a:solidFill>
              </a:rPr>
              <a:t>generated estates validated and planned offline by the real Terraform 1.16.5 binary, after our overlay completes them.</a:t>
            </a:r>
            <a:endParaRPr lang="en-US" sz="1400" dirty="0"/>
          </a:p>
        </p:txBody>
      </p:sp>
      <p:sp>
        <p:nvSpPr>
          <p:cNvPr id="12" name="outside-3"/>
          <p:cNvSpPr/>
          <p:nvPr/>
        </p:nvSpPr>
        <p:spPr>
          <a:xfrm>
            <a:off x="6126480" y="3840480"/>
            <a:ext cx="5394960" cy="2240280"/>
          </a:xfrm>
          <a:prstGeom prst="rect">
            <a:avLst/>
          </a:prstGeom>
          <a:solidFill>
            <a:schemeClr val="bg2"/>
          </a:solidFill>
          <a:ln w="12700">
            <a:solidFill>
              <a:schemeClr val="bg2"/>
            </a:solidFill>
            <a:prstDash val="solid"/>
          </a:ln>
        </p:spPr>
      </p:sp>
      <p:sp>
        <p:nvSpPr>
          <p:cNvPr id="13" name="Text 11"/>
          <p:cNvSpPr txBox="1"/>
          <p:nvPr/>
        </p:nvSpPr>
        <p:spPr>
          <a:xfrm>
            <a:off x="6355080" y="3977640"/>
            <a:ext cx="1737360" cy="91440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100%</a:t>
            </a:r>
            <a:endParaRPr lang="en-US" sz="4400" dirty="0"/>
          </a:p>
        </p:txBody>
      </p:sp>
      <p:sp>
        <p:nvSpPr>
          <p:cNvPr id="14" name="Text 12"/>
          <p:cNvSpPr txBox="1"/>
          <p:nvPr/>
        </p:nvSpPr>
        <p:spPr>
          <a:xfrm>
            <a:off x="8183880" y="4023360"/>
            <a:ext cx="3154680" cy="1874520"/>
          </a:xfrm>
          <a:prstGeom prst="rect">
            <a:avLst/>
          </a:prstGeom>
          <a:noFill/>
          <a:ln/>
        </p:spPr>
        <p:txBody>
          <a:bodyPr wrap="square" lIns="0" tIns="0" rIns="0" bIns="0" rtlCol="0" anchor="t"/>
          <a:lstStyle/>
          <a:p>
            <a:pPr indent="0" marL="0">
              <a:buNone/>
            </a:pPr>
            <a:r>
              <a:rPr lang="en-US" sz="1400" dirty="0">
                <a:solidFill>
                  <a:schemeClr val="tx1"/>
                </a:solidFill>
              </a:rPr>
              <a:t>of EC2, RDS, load balancer, KMS and S3 list prices re-derived from freshly downloaded AWS files and matched.</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We engineered it like a product, with guardrails built in</a:t>
            </a:r>
            <a:endParaRPr lang="en-US" sz="3000" dirty="0"/>
          </a:p>
        </p:txBody>
      </p:sp>
      <p:sp>
        <p:nvSpPr>
          <p:cNvPr id="3" name="eng-col-0"/>
          <p:cNvSpPr/>
          <p:nvPr/>
        </p:nvSpPr>
        <p:spPr>
          <a:xfrm>
            <a:off x="548640" y="1371600"/>
            <a:ext cx="3520440" cy="4754880"/>
          </a:xfrm>
          <a:prstGeom prst="rect">
            <a:avLst/>
          </a:prstGeom>
          <a:solidFill>
            <a:schemeClr val="bg2"/>
          </a:solidFill>
          <a:ln w="12700">
            <a:solidFill>
              <a:schemeClr val="bg2"/>
            </a:solidFill>
            <a:prstDash val="solid"/>
          </a:ln>
        </p:spPr>
      </p:sp>
      <p:sp>
        <p:nvSpPr>
          <p:cNvPr id="4" name="Text 2"/>
          <p:cNvSpPr txBox="1"/>
          <p:nvPr/>
        </p:nvSpPr>
        <p:spPr>
          <a:xfrm>
            <a:off x="731520" y="1554480"/>
            <a:ext cx="3154680" cy="64008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Gates we run on every push</a:t>
            </a:r>
            <a:endParaRPr lang="en-US" sz="1700" dirty="0"/>
          </a:p>
        </p:txBody>
      </p:sp>
      <p:sp>
        <p:nvSpPr>
          <p:cNvPr id="5" name="Text 3"/>
          <p:cNvSpPr txBox="1"/>
          <p:nvPr/>
        </p:nvSpPr>
        <p:spPr>
          <a:xfrm>
            <a:off x="731520" y="2286000"/>
            <a:ext cx="3154680" cy="3657600"/>
          </a:xfrm>
          <a:prstGeom prst="rect">
            <a:avLst/>
          </a:prstGeom>
          <a:noFill/>
          <a:ln/>
        </p:spPr>
        <p:txBody>
          <a:bodyPr wrap="square" rtlCol="0" anchor="t"/>
          <a:lstStyle/>
          <a:p>
            <a:pPr marL="342900" indent="-342900">
              <a:spcAft>
                <a:spcPts val="1000"/>
              </a:spcAft>
              <a:buSzPct val="100000"/>
              <a:buChar char="•"/>
            </a:pPr>
            <a:r>
              <a:rPr lang="en-US" sz="1400" dirty="0">
                <a:solidFill>
                  <a:schemeClr val="tx1"/>
                </a:solidFill>
              </a:rPr>
              <a:t>ruff, ruff format, mypy and pytest in CI on Python 3.11 and 3.12</a:t>
            </a:r>
            <a:endParaRPr lang="en-US" sz="1400" dirty="0"/>
          </a:p>
          <a:p>
            <a:pPr marL="342900" indent="-342900">
              <a:spcAft>
                <a:spcPts val="1000"/>
              </a:spcAft>
              <a:buSzPct val="100000"/>
              <a:buChar char="•"/>
            </a:pPr>
            <a:r>
              <a:rPr lang="en-US" sz="1400" dirty="0">
                <a:solidFill>
                  <a:schemeClr val="tx1"/>
                </a:solidFill>
              </a:rPr>
              <a:t>Deterministic run ids: re-run a review and get the same bytes</a:t>
            </a:r>
            <a:endParaRPr lang="en-US" sz="1400" dirty="0"/>
          </a:p>
          <a:p>
            <a:pPr marL="342900" indent="-342900">
              <a:spcAft>
                <a:spcPts val="1000"/>
              </a:spcAft>
              <a:buSzPct val="100000"/>
              <a:buChar char="•"/>
            </a:pPr>
            <a:r>
              <a:rPr lang="en-US" sz="1400" dirty="0">
                <a:solidFill>
                  <a:schemeClr val="tx1"/>
                </a:solidFill>
              </a:rPr>
              <a:t>Every model call recorded as a fixture and replayable offline</a:t>
            </a:r>
            <a:endParaRPr lang="en-US" sz="1400" dirty="0"/>
          </a:p>
          <a:p>
            <a:pPr marL="342900" indent="-342900">
              <a:spcAft>
                <a:spcPts val="1000"/>
              </a:spcAft>
              <a:buSzPct val="100000"/>
              <a:buChar char="•"/>
            </a:pPr>
            <a:r>
              <a:rPr lang="en-US" sz="1400" dirty="0">
                <a:solidFill>
                  <a:schemeClr val="tx1"/>
                </a:solidFill>
              </a:rPr>
              <a:t>No secrets in code or logs</a:t>
            </a:r>
            <a:endParaRPr lang="en-US" sz="1400" dirty="0"/>
          </a:p>
        </p:txBody>
      </p:sp>
      <p:sp>
        <p:nvSpPr>
          <p:cNvPr id="6" name="eng-col-1"/>
          <p:cNvSpPr/>
          <p:nvPr/>
        </p:nvSpPr>
        <p:spPr>
          <a:xfrm>
            <a:off x="4297680" y="1371600"/>
            <a:ext cx="3520440" cy="4754880"/>
          </a:xfrm>
          <a:prstGeom prst="rect">
            <a:avLst/>
          </a:prstGeom>
          <a:solidFill>
            <a:schemeClr val="bg2"/>
          </a:solidFill>
          <a:ln w="12700">
            <a:solidFill>
              <a:schemeClr val="bg2"/>
            </a:solidFill>
            <a:prstDash val="solid"/>
          </a:ln>
        </p:spPr>
      </p:sp>
      <p:sp>
        <p:nvSpPr>
          <p:cNvPr id="7" name="Text 5"/>
          <p:cNvSpPr txBox="1"/>
          <p:nvPr/>
        </p:nvSpPr>
        <p:spPr>
          <a:xfrm>
            <a:off x="4480560" y="1554480"/>
            <a:ext cx="3154680" cy="64008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Refusals we built on purpose</a:t>
            </a:r>
            <a:endParaRPr lang="en-US" sz="1700" dirty="0"/>
          </a:p>
        </p:txBody>
      </p:sp>
      <p:sp>
        <p:nvSpPr>
          <p:cNvPr id="8" name="Text 6"/>
          <p:cNvSpPr txBox="1"/>
          <p:nvPr/>
        </p:nvSpPr>
        <p:spPr>
          <a:xfrm>
            <a:off x="4480560" y="2286000"/>
            <a:ext cx="3154680" cy="3657600"/>
          </a:xfrm>
          <a:prstGeom prst="rect">
            <a:avLst/>
          </a:prstGeom>
          <a:noFill/>
          <a:ln/>
        </p:spPr>
        <p:txBody>
          <a:bodyPr wrap="square" rtlCol="0" anchor="t"/>
          <a:lstStyle/>
          <a:p>
            <a:pPr marL="342900" indent="-342900">
              <a:spcAft>
                <a:spcPts val="1000"/>
              </a:spcAft>
              <a:buSzPct val="100000"/>
              <a:buChar char="•"/>
            </a:pPr>
            <a:r>
              <a:rPr lang="en-US" sz="1400" dirty="0">
                <a:solidFill>
                  <a:schemeClr val="tx1"/>
                </a:solidFill>
              </a:rPr>
              <a:t>No spec with an open CRITICAL finding can reach a plan</a:t>
            </a:r>
            <a:endParaRPr lang="en-US" sz="1400" dirty="0"/>
          </a:p>
          <a:p>
            <a:pPr marL="342900" indent="-342900">
              <a:spcAft>
                <a:spcPts val="1000"/>
              </a:spcAft>
              <a:buSzPct val="100000"/>
              <a:buChar char="•"/>
            </a:pPr>
            <a:r>
              <a:rPr lang="en-US" sz="1400" dirty="0">
                <a:solidFill>
                  <a:schemeClr val="tx1"/>
                </a:solidFill>
              </a:rPr>
              <a:t>A plan is immutable and applies once</a:t>
            </a:r>
            <a:endParaRPr lang="en-US" sz="1400" dirty="0"/>
          </a:p>
          <a:p>
            <a:pPr marL="342900" indent="-342900">
              <a:spcAft>
                <a:spcPts val="1000"/>
              </a:spcAft>
              <a:buSzPct val="100000"/>
              <a:buChar char="•"/>
            </a:pPr>
            <a:r>
              <a:rPr lang="en-US" sz="1400" dirty="0">
                <a:solidFill>
                  <a:schemeClr val="tx1"/>
                </a:solidFill>
              </a:rPr>
              <a:t>A real apply is switched off by default and has many further gates</a:t>
            </a:r>
            <a:endParaRPr lang="en-US" sz="1400" dirty="0"/>
          </a:p>
          <a:p>
            <a:pPr marL="342900" indent="-342900">
              <a:spcAft>
                <a:spcPts val="1000"/>
              </a:spcAft>
              <a:buSzPct val="100000"/>
              <a:buChar char="•"/>
            </a:pPr>
            <a:r>
              <a:rPr lang="en-US" sz="1400" dirty="0">
                <a:solidFill>
                  <a:schemeClr val="tx1"/>
                </a:solidFill>
              </a:rPr>
              <a:t>A model may read the controls graph and never author it</a:t>
            </a:r>
            <a:endParaRPr lang="en-US" sz="1400" dirty="0"/>
          </a:p>
        </p:txBody>
      </p:sp>
      <p:sp>
        <p:nvSpPr>
          <p:cNvPr id="9" name="eng-col-2"/>
          <p:cNvSpPr/>
          <p:nvPr/>
        </p:nvSpPr>
        <p:spPr>
          <a:xfrm>
            <a:off x="8046720" y="1371600"/>
            <a:ext cx="3520440" cy="4754880"/>
          </a:xfrm>
          <a:prstGeom prst="rect">
            <a:avLst/>
          </a:prstGeom>
          <a:solidFill>
            <a:schemeClr val="bg2"/>
          </a:solidFill>
          <a:ln w="12700">
            <a:solidFill>
              <a:schemeClr val="bg2"/>
            </a:solidFill>
            <a:prstDash val="solid"/>
          </a:ln>
        </p:spPr>
      </p:sp>
      <p:sp>
        <p:nvSpPr>
          <p:cNvPr id="10" name="Text 8"/>
          <p:cNvSpPr txBox="1"/>
          <p:nvPr/>
        </p:nvSpPr>
        <p:spPr>
          <a:xfrm>
            <a:off x="8229600" y="1554480"/>
            <a:ext cx="3154680" cy="64008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Review you can trust</a:t>
            </a:r>
            <a:endParaRPr lang="en-US" sz="1700" dirty="0"/>
          </a:p>
        </p:txBody>
      </p:sp>
      <p:sp>
        <p:nvSpPr>
          <p:cNvPr id="11" name="Text 9"/>
          <p:cNvSpPr txBox="1"/>
          <p:nvPr/>
        </p:nvSpPr>
        <p:spPr>
          <a:xfrm>
            <a:off x="8229600" y="2286000"/>
            <a:ext cx="3154680" cy="3657600"/>
          </a:xfrm>
          <a:prstGeom prst="rect">
            <a:avLst/>
          </a:prstGeom>
          <a:noFill/>
          <a:ln/>
        </p:spPr>
        <p:txBody>
          <a:bodyPr wrap="square" rtlCol="0" anchor="t"/>
          <a:lstStyle/>
          <a:p>
            <a:pPr marL="342900" indent="-342900">
              <a:spcAft>
                <a:spcPts val="1000"/>
              </a:spcAft>
              <a:buSzPct val="100000"/>
              <a:buChar char="•"/>
            </a:pPr>
            <a:r>
              <a:rPr lang="en-US" sz="1400" dirty="0">
                <a:solidFill>
                  <a:schemeClr val="tx1"/>
                </a:solidFill>
              </a:rPr>
              <a:t>Reviewer is never the author; a CRITICAL comment blocks sign-off</a:t>
            </a:r>
            <a:endParaRPr lang="en-US" sz="1400" dirty="0"/>
          </a:p>
          <a:p>
            <a:pPr marL="342900" indent="-342900">
              <a:spcAft>
                <a:spcPts val="1000"/>
              </a:spcAft>
              <a:buSzPct val="100000"/>
              <a:buChar char="•"/>
            </a:pPr>
            <a:r>
              <a:rPr lang="en-US" sz="1400" dirty="0">
                <a:solidFill>
                  <a:schemeClr val="tx1"/>
                </a:solidFill>
              </a:rPr>
              <a:t>Decision logs are append-only</a:t>
            </a:r>
            <a:endParaRPr lang="en-US" sz="1400" dirty="0"/>
          </a:p>
          <a:p>
            <a:pPr marL="342900" indent="-342900">
              <a:spcAft>
                <a:spcPts val="1000"/>
              </a:spcAft>
              <a:buSzPct val="100000"/>
              <a:buChar char="•"/>
            </a:pPr>
            <a:r>
              <a:rPr lang="en-US" sz="1400" dirty="0">
                <a:solidFill>
                  <a:schemeClr val="tx1"/>
                </a:solidFill>
              </a:rPr>
              <a:t>An AST test keeps the gold set out of everything but the dashboard</a:t>
            </a:r>
            <a:endParaRPr lang="en-US" sz="1400" dirty="0"/>
          </a:p>
          <a:p>
            <a:pPr marL="342900" indent="-342900">
              <a:spcAft>
                <a:spcPts val="1000"/>
              </a:spcAft>
              <a:buSzPct val="100000"/>
              <a:buChar char="•"/>
            </a:pPr>
            <a:r>
              <a:rPr lang="en-US" sz="1400" dirty="0">
                <a:solidFill>
                  <a:schemeClr val="tx1"/>
                </a:solidFill>
              </a:rPr>
              <a:t>Same facts for every audience, tested</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We built nine commands, and this is the tool</a:t>
            </a:r>
            <a:endParaRPr lang="en-US" sz="30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400" i="1" dirty="0">
                <a:solidFill>
                  <a:schemeClr val="accent1"/>
                </a:solidFill>
              </a:rPr>
              <a:t>One entry point, nine subcommands: reproduce, corpus, review, design, plan, apply, history, explain, dashboard.</a:t>
            </a:r>
            <a:endParaRPr lang="en-US" sz="1400" dirty="0"/>
          </a:p>
        </p:txBody>
      </p:sp>
      <p:sp>
        <p:nvSpPr>
          <p:cNvPr id="4" name="terminal-frame-1"/>
          <p:cNvSpPr/>
          <p:nvPr/>
        </p:nvSpPr>
        <p:spPr>
          <a:xfrm>
            <a:off x="548640" y="1554480"/>
            <a:ext cx="11064240" cy="4114800"/>
          </a:xfrm>
          <a:prstGeom prst="rect">
            <a:avLst/>
          </a:prstGeom>
          <a:solidFill>
            <a:srgbClr val="0B0F10"/>
          </a:solidFill>
          <a:ln w="15875">
            <a:solidFill>
              <a:srgbClr val="7FB8AE"/>
            </a:solidFill>
            <a:prstDash val="dash"/>
          </a:ln>
        </p:spPr>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We make every run reproducible</a:t>
            </a:r>
            <a:endParaRPr lang="en-US" sz="30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400" i="1" dirty="0">
                <a:solidFill>
                  <a:schemeClr val="accent1"/>
                </a:solidFill>
              </a:rPr>
              <a:t>Seeds are fixed and tool versions fingerprinted, so a result can be reproduced and checked.</a:t>
            </a:r>
            <a:endParaRPr lang="en-US" sz="1400" dirty="0"/>
          </a:p>
        </p:txBody>
      </p:sp>
      <p:sp>
        <p:nvSpPr>
          <p:cNvPr id="4" name="terminal-frame-1"/>
          <p:cNvSpPr/>
          <p:nvPr/>
        </p:nvSpPr>
        <p:spPr>
          <a:xfrm>
            <a:off x="548640" y="1554480"/>
            <a:ext cx="11064240" cy="3017520"/>
          </a:xfrm>
          <a:prstGeom prst="rect">
            <a:avLst/>
          </a:prstGeom>
          <a:solidFill>
            <a:srgbClr val="0B0F10"/>
          </a:solidFill>
          <a:ln w="15875">
            <a:solidFill>
              <a:srgbClr val="7FB8AE"/>
            </a:solidFill>
            <a:prstDash val="dash"/>
          </a:ln>
        </p:spPr>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We catch an unencrypted cardholder database</a:t>
            </a:r>
            <a:endParaRPr lang="en-US" sz="30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400" i="1" dirty="0">
                <a:solidFill>
                  <a:schemeClr val="accent1"/>
                </a:solidFill>
              </a:rPr>
              <a:t>The recommender and the advisor flag it independently, and the tested remediation reads RESOLVED.</a:t>
            </a:r>
            <a:endParaRPr lang="en-US" sz="1400" dirty="0"/>
          </a:p>
        </p:txBody>
      </p:sp>
      <p:sp>
        <p:nvSpPr>
          <p:cNvPr id="4" name="terminal-frame-1"/>
          <p:cNvSpPr/>
          <p:nvPr/>
        </p:nvSpPr>
        <p:spPr>
          <a:xfrm>
            <a:off x="548640" y="1554480"/>
            <a:ext cx="11064240" cy="4572000"/>
          </a:xfrm>
          <a:prstGeom prst="rect">
            <a:avLst/>
          </a:prstGeom>
          <a:solidFill>
            <a:srgbClr val="0B0F10"/>
          </a:solidFill>
          <a:ln w="15875">
            <a:solidFill>
              <a:srgbClr val="7FB8AE"/>
            </a:solidFill>
            <a:prstDash val="dash"/>
          </a:ln>
        </p:spPr>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We catch a three-hop trust chain that scanners walk past</a:t>
            </a:r>
            <a:endParaRPr lang="en-US" sz="30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400" i="1" dirty="0">
                <a:solidFill>
                  <a:schemeClr val="accent1"/>
                </a:solidFill>
              </a:rPr>
              <a:t>Three roles, each compliant alone, chain into the cardholder database. Our graph names the path.</a:t>
            </a:r>
            <a:endParaRPr lang="en-US" sz="1400" dirty="0"/>
          </a:p>
        </p:txBody>
      </p:sp>
      <p:sp>
        <p:nvSpPr>
          <p:cNvPr id="4" name="terminal-frame-1"/>
          <p:cNvSpPr/>
          <p:nvPr/>
        </p:nvSpPr>
        <p:spPr>
          <a:xfrm>
            <a:off x="548640" y="1554480"/>
            <a:ext cx="11064240" cy="4572000"/>
          </a:xfrm>
          <a:prstGeom prst="rect">
            <a:avLst/>
          </a:prstGeom>
          <a:solidFill>
            <a:srgbClr val="0B0F10"/>
          </a:solidFill>
          <a:ln w="15875">
            <a:solidFill>
              <a:srgbClr val="7FB8AE"/>
            </a:solidFill>
            <a:prstDash val="dash"/>
          </a:ln>
        </p:spPr>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We recover a resilience defect from a recorded model review</a:t>
            </a:r>
            <a:endParaRPr lang="en-US" sz="30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400" i="1" dirty="0">
                <a:solidFill>
                  <a:schemeClr val="accent1"/>
                </a:solidFill>
              </a:rPr>
              <a:t>A missing multi-AZ and zero-day backups: we find it, rank it MEDIUM, and the loop converges.</a:t>
            </a:r>
            <a:endParaRPr lang="en-US" sz="1400" dirty="0"/>
          </a:p>
        </p:txBody>
      </p:sp>
      <p:sp>
        <p:nvSpPr>
          <p:cNvPr id="4" name="terminal-frame-1"/>
          <p:cNvSpPr/>
          <p:nvPr/>
        </p:nvSpPr>
        <p:spPr>
          <a:xfrm>
            <a:off x="548640" y="1554480"/>
            <a:ext cx="11064240" cy="3657600"/>
          </a:xfrm>
          <a:prstGeom prst="rect">
            <a:avLst/>
          </a:prstGeom>
          <a:solidFill>
            <a:srgbClr val="0B0F10"/>
          </a:solidFill>
          <a:ln w="15875">
            <a:solidFill>
              <a:srgbClr val="7FB8AE"/>
            </a:solidFill>
            <a:prstDash val="dash"/>
          </a:ln>
        </p:spPr>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We catch a privilege path hidden in a PassRole grant</a:t>
            </a:r>
            <a:endParaRPr lang="en-US" sz="30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400" i="1" dirty="0">
                <a:solidFill>
                  <a:schemeClr val="accent1"/>
                </a:solidFill>
              </a:rPr>
              <a:t>A second multi-hop defect: the model finds the path from an exec role through a privileged role to the database.</a:t>
            </a:r>
            <a:endParaRPr lang="en-US" sz="1400" dirty="0"/>
          </a:p>
        </p:txBody>
      </p:sp>
      <p:sp>
        <p:nvSpPr>
          <p:cNvPr id="4" name="terminal-frame-1"/>
          <p:cNvSpPr/>
          <p:nvPr/>
        </p:nvSpPr>
        <p:spPr>
          <a:xfrm>
            <a:off x="548640" y="1554480"/>
            <a:ext cx="11064240" cy="4206240"/>
          </a:xfrm>
          <a:prstGeom prst="rect">
            <a:avLst/>
          </a:prstGeom>
          <a:solidFill>
            <a:srgbClr val="0B0F10"/>
          </a:solidFill>
          <a:ln w="15875">
            <a:solidFill>
              <a:srgbClr val="7FB8AE"/>
            </a:solidFill>
            <a:prstDash val="dash"/>
          </a:ln>
        </p:spPr>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Every run lands in a store we can query</a:t>
            </a:r>
            <a:endParaRPr lang="en-US" sz="30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400" i="1" dirty="0">
                <a:solidFill>
                  <a:schemeClr val="accent1"/>
                </a:solidFill>
              </a:rPr>
              <a:t>Deterministic run ids, a loop status and a finding count for each stored run.</a:t>
            </a:r>
            <a:endParaRPr lang="en-US" sz="1400" dirty="0"/>
          </a:p>
        </p:txBody>
      </p:sp>
      <p:sp>
        <p:nvSpPr>
          <p:cNvPr id="4" name="terminal-frame-1"/>
          <p:cNvSpPr/>
          <p:nvPr/>
        </p:nvSpPr>
        <p:spPr>
          <a:xfrm>
            <a:off x="548640" y="1554480"/>
            <a:ext cx="11064240" cy="2011680"/>
          </a:xfrm>
          <a:prstGeom prst="rect">
            <a:avLst/>
          </a:prstGeom>
          <a:solidFill>
            <a:srgbClr val="0B0F10"/>
          </a:solidFill>
          <a:ln w="15875">
            <a:solidFill>
              <a:srgbClr val="7FB8AE"/>
            </a:solidFill>
            <a:prstDash val="dash"/>
          </a:ln>
        </p:spPr>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We explain the same finding for any audience</a:t>
            </a:r>
            <a:endParaRPr lang="en-US" sz="30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400" i="1" dirty="0">
                <a:solidFill>
                  <a:schemeClr val="accent1"/>
                </a:solidFill>
              </a:rPr>
              <a:t>Architect, auditor and learner renderings carry identical claims. Our test enforces it.</a:t>
            </a:r>
            <a:endParaRPr lang="en-US" sz="1400" dirty="0"/>
          </a:p>
        </p:txBody>
      </p:sp>
      <p:sp>
        <p:nvSpPr>
          <p:cNvPr id="4" name="terminal-frame-1"/>
          <p:cNvSpPr/>
          <p:nvPr/>
        </p:nvSpPr>
        <p:spPr>
          <a:xfrm>
            <a:off x="548640" y="1554480"/>
            <a:ext cx="11064240" cy="4754880"/>
          </a:xfrm>
          <a:prstGeom prst="rect">
            <a:avLst/>
          </a:prstGeom>
          <a:solidFill>
            <a:srgbClr val="0B0F10"/>
          </a:solidFill>
          <a:ln w="15875">
            <a:solidFill>
              <a:srgbClr val="7FB8AE"/>
            </a:solidFill>
            <a:prstDash val="dash"/>
          </a:ln>
        </p:spPr>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We design a payments API from a stated intent</a:t>
            </a:r>
            <a:endParaRPr lang="en-US" sz="30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400" i="1" dirty="0">
                <a:solidFill>
                  <a:schemeClr val="accent1"/>
                </a:solidFill>
              </a:rPr>
              <a:t>Every axis is stated, never defaulted. Each choice is justified by the alternatives we rejected.</a:t>
            </a:r>
            <a:endParaRPr lang="en-US" sz="1400" dirty="0"/>
          </a:p>
        </p:txBody>
      </p:sp>
      <p:sp>
        <p:nvSpPr>
          <p:cNvPr id="4" name="terminal-frame-1"/>
          <p:cNvSpPr/>
          <p:nvPr/>
        </p:nvSpPr>
        <p:spPr>
          <a:xfrm>
            <a:off x="548640" y="1554480"/>
            <a:ext cx="11064240" cy="4800600"/>
          </a:xfrm>
          <a:prstGeom prst="rect">
            <a:avLst/>
          </a:prstGeom>
          <a:solidFill>
            <a:srgbClr val="0B0F10"/>
          </a:solidFill>
          <a:ln w="15875">
            <a:solidFill>
              <a:srgbClr val="7FB8AE"/>
            </a:solidFill>
            <a:prstDash val="dash"/>
          </a:ln>
        </p:spPr>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We read plain English and quote the evidence</a:t>
            </a:r>
            <a:endParaRPr lang="en-US" sz="30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400" i="1" dirty="0">
                <a:solidFill>
                  <a:schemeClr val="accent1"/>
                </a:solidFill>
              </a:rPr>
              <a:t>A value is admitted only if the model can quote it from your text. Anything else stays empty.</a:t>
            </a:r>
            <a:endParaRPr lang="en-US" sz="1400" dirty="0"/>
          </a:p>
        </p:txBody>
      </p:sp>
      <p:sp>
        <p:nvSpPr>
          <p:cNvPr id="4" name="terminal-frame-1"/>
          <p:cNvSpPr/>
          <p:nvPr/>
        </p:nvSpPr>
        <p:spPr>
          <a:xfrm>
            <a:off x="548640" y="1554480"/>
            <a:ext cx="11064240" cy="4800600"/>
          </a:xfrm>
          <a:prstGeom prst="rect">
            <a:avLst/>
          </a:prstGeom>
          <a:solidFill>
            <a:srgbClr val="0B0F10"/>
          </a:solidFill>
          <a:ln w="15875">
            <a:solidFill>
              <a:srgbClr val="7FB8AE"/>
            </a:solidFill>
            <a:prstDash val="dash"/>
          </a:ln>
        </p:spPr>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We plan before we touch anything</a:t>
            </a:r>
            <a:endParaRPr lang="en-US" sz="30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400" i="1" dirty="0">
                <a:solidFill>
                  <a:schemeClr val="accent1"/>
                </a:solidFill>
              </a:rPr>
              <a:t>Fifteen creates, no findings before or after, and a monthly cost delta from AWS list prices.</a:t>
            </a:r>
            <a:endParaRPr lang="en-US" sz="1400" dirty="0"/>
          </a:p>
        </p:txBody>
      </p:sp>
      <p:sp>
        <p:nvSpPr>
          <p:cNvPr id="4" name="terminal-frame-1"/>
          <p:cNvSpPr/>
          <p:nvPr/>
        </p:nvSpPr>
        <p:spPr>
          <a:xfrm>
            <a:off x="548640" y="1554480"/>
            <a:ext cx="11064240" cy="4800600"/>
          </a:xfrm>
          <a:prstGeom prst="rect">
            <a:avLst/>
          </a:prstGeom>
          <a:solidFill>
            <a:srgbClr val="0B0F10"/>
          </a:solidFill>
          <a:ln w="15875">
            <a:solidFill>
              <a:srgbClr val="7FB8AE"/>
            </a:solidFill>
            <a:prstDash val="dash"/>
          </a:ln>
        </p:spPr>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We hand the plan to the real Terraform binary</a:t>
            </a:r>
            <a:endParaRPr lang="en-US" sz="30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400" i="1" dirty="0">
                <a:solidFill>
                  <a:schemeClr val="accent1"/>
                </a:solidFill>
              </a:rPr>
              <a:t>Terraform 1.16.5 validates and plans it offline, and we list every completion we added to make it valid.</a:t>
            </a:r>
            <a:endParaRPr lang="en-US" sz="1400" dirty="0"/>
          </a:p>
        </p:txBody>
      </p:sp>
      <p:sp>
        <p:nvSpPr>
          <p:cNvPr id="4" name="terminal-frame-1"/>
          <p:cNvSpPr/>
          <p:nvPr/>
        </p:nvSpPr>
        <p:spPr>
          <a:xfrm>
            <a:off x="548640" y="1554480"/>
            <a:ext cx="11064240" cy="3383280"/>
          </a:xfrm>
          <a:prstGeom prst="rect">
            <a:avLst/>
          </a:prstGeom>
          <a:solidFill>
            <a:srgbClr val="0B0F10"/>
          </a:solidFill>
          <a:ln w="15875">
            <a:solidFill>
              <a:srgbClr val="7FB8AE"/>
            </a:solidFill>
            <a:prstDash val="dash"/>
          </a:ln>
        </p:spPr>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We apply to a simulation, resource by resource</a:t>
            </a:r>
            <a:endParaRPr lang="en-US" sz="30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400" i="1" dirty="0">
                <a:solidFill>
                  <a:schemeClr val="accent1"/>
                </a:solidFill>
              </a:rPr>
              <a:t>Every create reports done: one apply per plan, and the spec must be unchanged since it was planned.</a:t>
            </a:r>
            <a:endParaRPr lang="en-US" sz="1400" dirty="0"/>
          </a:p>
        </p:txBody>
      </p:sp>
      <p:sp>
        <p:nvSpPr>
          <p:cNvPr id="4" name="terminal-frame-1"/>
          <p:cNvSpPr/>
          <p:nvPr/>
        </p:nvSpPr>
        <p:spPr>
          <a:xfrm>
            <a:off x="548640" y="1554480"/>
            <a:ext cx="11064240" cy="3474720"/>
          </a:xfrm>
          <a:prstGeom prst="rect">
            <a:avLst/>
          </a:prstGeom>
          <a:solidFill>
            <a:srgbClr val="0B0F10"/>
          </a:solidFill>
          <a:ln w="15875">
            <a:solidFill>
              <a:srgbClr val="7FB8AE"/>
            </a:solidFill>
            <a:prstDash val="dash"/>
          </a:ln>
        </p:spPr>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We refuse what we should refuse</a:t>
            </a:r>
            <a:endParaRPr lang="en-US" sz="30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400" i="1" dirty="0">
                <a:solidFill>
                  <a:schemeClr val="accent1"/>
                </a:solidFill>
              </a:rPr>
              <a:t>A second apply is refused, and a real AWS apply is switched off by default.</a:t>
            </a:r>
            <a:endParaRPr lang="en-US" sz="1400" dirty="0"/>
          </a:p>
        </p:txBody>
      </p:sp>
      <p:sp>
        <p:nvSpPr>
          <p:cNvPr id="4" name="terminal-frame-1"/>
          <p:cNvSpPr/>
          <p:nvPr/>
        </p:nvSpPr>
        <p:spPr>
          <a:xfrm>
            <a:off x="548640" y="1554480"/>
            <a:ext cx="11064240" cy="1371600"/>
          </a:xfrm>
          <a:prstGeom prst="rect">
            <a:avLst/>
          </a:prstGeom>
          <a:solidFill>
            <a:srgbClr val="0B0F10"/>
          </a:solidFill>
          <a:ln w="15875">
            <a:solidFill>
              <a:srgbClr val="7FB8AE"/>
            </a:solidFill>
            <a:prstDash val="dash"/>
          </a:ln>
        </p:spPr>
      </p:sp>
      <p:sp>
        <p:nvSpPr>
          <p:cNvPr id="5" name="terminal-frame-2"/>
          <p:cNvSpPr/>
          <p:nvPr/>
        </p:nvSpPr>
        <p:spPr>
          <a:xfrm>
            <a:off x="548640" y="3063240"/>
            <a:ext cx="11064240" cy="1737360"/>
          </a:xfrm>
          <a:prstGeom prst="rect">
            <a:avLst/>
          </a:prstGeom>
          <a:solidFill>
            <a:srgbClr val="0B0F10"/>
          </a:solidFill>
          <a:ln w="15875">
            <a:solidFill>
              <a:srgbClr val="7FB8AE"/>
            </a:solidFill>
            <a:prstDash val="dash"/>
          </a:ln>
        </p:spPr>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We keep the whole thing green</a:t>
            </a:r>
            <a:endParaRPr lang="en-US" sz="30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400" i="1" dirty="0">
                <a:solidFill>
                  <a:schemeClr val="accent1"/>
                </a:solidFill>
              </a:rPr>
              <a:t>ruff, ruff format and mypy are clean, and pytest finishes with 474 passed.</a:t>
            </a:r>
            <a:endParaRPr lang="en-US" sz="1400" dirty="0"/>
          </a:p>
        </p:txBody>
      </p:sp>
      <p:sp>
        <p:nvSpPr>
          <p:cNvPr id="4" name="terminal-frame-1"/>
          <p:cNvSpPr/>
          <p:nvPr/>
        </p:nvSpPr>
        <p:spPr>
          <a:xfrm>
            <a:off x="548640" y="1554480"/>
            <a:ext cx="11064240" cy="1463040"/>
          </a:xfrm>
          <a:prstGeom prst="rect">
            <a:avLst/>
          </a:prstGeom>
          <a:solidFill>
            <a:srgbClr val="0B0F10"/>
          </a:solidFill>
          <a:ln w="15875">
            <a:solidFill>
              <a:srgbClr val="7FB8AE"/>
            </a:solidFill>
            <a:prstDash val="dash"/>
          </a:ln>
        </p:spPr>
      </p:sp>
      <p:sp>
        <p:nvSpPr>
          <p:cNvPr id="5" name="terminal-frame-2"/>
          <p:cNvSpPr/>
          <p:nvPr/>
        </p:nvSpPr>
        <p:spPr>
          <a:xfrm>
            <a:off x="548640" y="3154680"/>
            <a:ext cx="11064240" cy="2377440"/>
          </a:xfrm>
          <a:prstGeom prst="rect">
            <a:avLst/>
          </a:prstGeom>
          <a:solidFill>
            <a:srgbClr val="0B0F10"/>
          </a:solidFill>
          <a:ln w="15875">
            <a:solidFill>
              <a:srgbClr val="7FB8AE"/>
            </a:solidFill>
            <a:prstDash val="dash"/>
          </a:ln>
        </p:spPr>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We generate synthetic estates on demand</a:t>
            </a:r>
            <a:endParaRPr lang="en-US" sz="30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400" i="1" dirty="0">
                <a:solidFill>
                  <a:schemeClr val="accent1"/>
                </a:solidFill>
              </a:rPr>
              <a:t>Intent first, then a clean estate, then injected defects. Resources, edges and archetypes, counted.</a:t>
            </a:r>
            <a:endParaRPr lang="en-US" sz="1400" dirty="0"/>
          </a:p>
        </p:txBody>
      </p:sp>
      <p:sp>
        <p:nvSpPr>
          <p:cNvPr id="4" name="terminal-frame-1"/>
          <p:cNvSpPr/>
          <p:nvPr/>
        </p:nvSpPr>
        <p:spPr>
          <a:xfrm>
            <a:off x="548640" y="1554480"/>
            <a:ext cx="11064240" cy="2743200"/>
          </a:xfrm>
          <a:prstGeom prst="rect">
            <a:avLst/>
          </a:prstGeom>
          <a:solidFill>
            <a:srgbClr val="0B0F10"/>
          </a:solidFill>
          <a:ln w="15875">
            <a:solidFill>
              <a:srgbClr val="7FB8AE"/>
            </a:solidFill>
            <a:prstDash val="dash"/>
          </a:ln>
        </p:spPr>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We serve the whole dashboard with one command</a:t>
            </a:r>
            <a:endParaRPr lang="en-US" sz="30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400" i="1" dirty="0">
                <a:solidFill>
                  <a:schemeClr val="accent1"/>
                </a:solidFill>
              </a:rPr>
              <a:t>Local only, replay mode by default, no live model calls until an admin says so.</a:t>
            </a:r>
            <a:endParaRPr lang="en-US" sz="1400" dirty="0"/>
          </a:p>
        </p:txBody>
      </p:sp>
      <p:sp>
        <p:nvSpPr>
          <p:cNvPr id="4" name="terminal-frame-1"/>
          <p:cNvSpPr/>
          <p:nvPr/>
        </p:nvSpPr>
        <p:spPr>
          <a:xfrm>
            <a:off x="548640" y="1554480"/>
            <a:ext cx="11064240" cy="1463040"/>
          </a:xfrm>
          <a:prstGeom prst="rect">
            <a:avLst/>
          </a:prstGeom>
          <a:solidFill>
            <a:srgbClr val="0B0F10"/>
          </a:solidFill>
          <a:ln w="15875">
            <a:solidFill>
              <a:srgbClr val="7FB8AE"/>
            </a:solidFill>
            <a:prstDash val="dash"/>
          </a:ln>
        </p:spPr>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bg1"/>
                </a:solidFill>
              </a:rPr>
              <a:t>We gave KGCR a front door that draws the estate</a:t>
            </a:r>
            <a:endParaRPr lang="en-US" sz="2800" dirty="0"/>
          </a:p>
        </p:txBody>
      </p:sp>
      <p:pic>
        <p:nvPicPr>
          <p:cNvPr id="3" name="shot-00-cover_1" descr="C:\Projects\KGCR_Cloud_Project_2026\presentation\screenshots\tiles\00-cover_1.png">    </p:cNvPr>
          <p:cNvPicPr>
            <a:picLocks noChangeAspect="1"/>
          </p:cNvPicPr>
          <p:nvPr/>
        </p:nvPicPr>
        <p:blipFill>
          <a:blip r:embed="rId1"/>
          <a:stretch>
            <a:fillRect/>
          </a:stretch>
        </p:blipFill>
        <p:spPr>
          <a:xfrm>
            <a:off x="548640" y="1188720"/>
            <a:ext cx="9144000" cy="5143500"/>
          </a:xfrm>
          <a:prstGeom prst="rect">
            <a:avLst/>
          </a:prstGeom>
        </p:spPr>
      </p:pic>
      <p:sp>
        <p:nvSpPr>
          <p:cNvPr id="4" name="Text 1"/>
          <p:cNvSpPr txBox="1"/>
          <p:nvPr/>
        </p:nvSpPr>
        <p:spPr>
          <a:xfrm>
            <a:off x="9921240" y="1188720"/>
            <a:ext cx="1737360" cy="512064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chemeClr val="accent6"/>
                </a:solidFill>
              </a:rPr>
              <a:t>Every stored run is plotted as a ring of resources with dependencies as chords.</a:t>
            </a:r>
            <a:endParaRPr lang="en-US" sz="1200" dirty="0"/>
          </a:p>
          <a:p>
            <a:pPr marL="342900" indent="-342900">
              <a:spcAft>
                <a:spcPts val="1000"/>
              </a:spcAft>
              <a:buSzPct val="100000"/>
              <a:buChar char="•"/>
            </a:pPr>
            <a:r>
              <a:rPr lang="en-US" sz="1200" dirty="0">
                <a:solidFill>
                  <a:schemeClr val="accent6"/>
                </a:solidFill>
              </a:rPr>
              <a:t>The red path is a real finding, lit on arrival.</a:t>
            </a:r>
            <a:endParaRPr lang="en-US" sz="1200" dirty="0"/>
          </a:p>
          <a:p>
            <a:pPr marL="342900" indent="-342900">
              <a:spcAft>
                <a:spcPts val="1000"/>
              </a:spcAft>
              <a:buSzPct val="100000"/>
              <a:buChar char="•"/>
            </a:pPr>
            <a:r>
              <a:rPr lang="en-US" sz="1200" dirty="0">
                <a:solidFill>
                  <a:schemeClr val="accent6"/>
                </a:solidFill>
              </a:rPr>
              <a:t>Sign in as a user or as an admin, in one click.</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bg1"/>
                </a:solidFill>
              </a:rPr>
              <a:t>We let you pick any of nine seeded defects</a:t>
            </a:r>
            <a:endParaRPr lang="en-US" sz="2800" dirty="0"/>
          </a:p>
        </p:txBody>
      </p:sp>
      <p:pic>
        <p:nvPicPr>
          <p:cNvPr id="3" name="shot-10-review_1" descr="C:\Projects\KGCR_Cloud_Project_2026\presentation\screenshots\tiles\10-review_1.png">    </p:cNvPr>
          <p:cNvPicPr>
            <a:picLocks noChangeAspect="1"/>
          </p:cNvPicPr>
          <p:nvPr/>
        </p:nvPicPr>
        <p:blipFill>
          <a:blip r:embed="rId1"/>
          <a:stretch>
            <a:fillRect/>
          </a:stretch>
        </p:blipFill>
        <p:spPr>
          <a:xfrm>
            <a:off x="548640" y="1188720"/>
            <a:ext cx="9144000" cy="5143500"/>
          </a:xfrm>
          <a:prstGeom prst="rect">
            <a:avLst/>
          </a:prstGeom>
        </p:spPr>
      </p:pic>
      <p:sp>
        <p:nvSpPr>
          <p:cNvPr id="4" name="Text 1"/>
          <p:cNvSpPr txBox="1"/>
          <p:nvPr/>
        </p:nvSpPr>
        <p:spPr>
          <a:xfrm>
            <a:off x="9921240" y="1188720"/>
            <a:ext cx="1737360" cy="512064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chemeClr val="accent6"/>
                </a:solidFill>
              </a:rPr>
              <a:t>Each variant shows its defect class, severity, and whether single-resource engines can see it.</a:t>
            </a:r>
            <a:endParaRPr lang="en-US" sz="1200" dirty="0"/>
          </a:p>
          <a:p>
            <a:pPr marL="342900" indent="-342900">
              <a:spcAft>
                <a:spcPts val="1000"/>
              </a:spcAft>
              <a:buSzPct val="100000"/>
              <a:buChar char="•"/>
            </a:pPr>
            <a:r>
              <a:rPr lang="en-US" sz="1200" dirty="0">
                <a:solidFill>
                  <a:schemeClr val="accent6"/>
                </a:solidFill>
              </a:rPr>
              <a:t>Five of nine variants replay a complete recorded Gemini review.</a:t>
            </a:r>
            <a:endParaRPr lang="en-US" sz="1200" dirty="0"/>
          </a:p>
          <a:p>
            <a:pPr marL="342900" indent="-342900">
              <a:spcAft>
                <a:spcPts val="1000"/>
              </a:spcAft>
              <a:buSzPct val="100000"/>
              <a:buChar char="•"/>
            </a:pPr>
            <a:r>
              <a:rPr lang="en-US" sz="1200" dirty="0">
                <a:solidFill>
                  <a:schemeClr val="accent6"/>
                </a:solidFill>
              </a:rPr>
              <a:t>Pick an audience; the claims do not change.</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bg1"/>
                </a:solidFill>
              </a:rPr>
              <a:t>We show the chain: three roles, one database</a:t>
            </a:r>
            <a:endParaRPr lang="en-US" sz="2800" dirty="0"/>
          </a:p>
        </p:txBody>
      </p:sp>
      <p:pic>
        <p:nvPicPr>
          <p:cNvPr id="3" name="shot-11-run_1" descr="C:\Projects\KGCR_Cloud_Project_2026\presentation\screenshots\tiles\11-run_1.png">    </p:cNvPr>
          <p:cNvPicPr>
            <a:picLocks noChangeAspect="1"/>
          </p:cNvPicPr>
          <p:nvPr/>
        </p:nvPicPr>
        <p:blipFill>
          <a:blip r:embed="rId1"/>
          <a:stretch>
            <a:fillRect/>
          </a:stretch>
        </p:blipFill>
        <p:spPr>
          <a:xfrm>
            <a:off x="548640" y="1188720"/>
            <a:ext cx="9144000" cy="5143500"/>
          </a:xfrm>
          <a:prstGeom prst="rect">
            <a:avLst/>
          </a:prstGeom>
        </p:spPr>
      </p:pic>
      <p:sp>
        <p:nvSpPr>
          <p:cNvPr id="4" name="Text 1"/>
          <p:cNvSpPr txBox="1"/>
          <p:nvPr/>
        </p:nvSpPr>
        <p:spPr>
          <a:xfrm>
            <a:off x="9921240" y="1188720"/>
            <a:ext cx="1737360" cy="512064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chemeClr val="accent6"/>
                </a:solidFill>
              </a:rPr>
              <a:t>The ring puts resources around the edge and dependencies as chords.</a:t>
            </a:r>
            <a:endParaRPr lang="en-US" sz="1200" dirty="0"/>
          </a:p>
          <a:p>
            <a:pPr marL="342900" indent="-342900">
              <a:spcAft>
                <a:spcPts val="1000"/>
              </a:spcAft>
              <a:buSzPct val="100000"/>
              <a:buChar char="•"/>
            </a:pPr>
            <a:r>
              <a:rPr lang="en-US" sz="1200" dirty="0">
                <a:solidFill>
                  <a:schemeClr val="accent6"/>
                </a:solidFill>
              </a:rPr>
              <a:t>The DF-7 trust chain is lit in red and the loop reads contested.</a:t>
            </a:r>
            <a:endParaRPr lang="en-US" sz="1200" dirty="0"/>
          </a:p>
          <a:p>
            <a:pPr marL="342900" indent="-342900">
              <a:spcAft>
                <a:spcPts val="1000"/>
              </a:spcAft>
              <a:buSzPct val="100000"/>
              <a:buChar char="•"/>
            </a:pPr>
            <a:r>
              <a:rPr lang="en-US" sz="1200" dirty="0">
                <a:solidFill>
                  <a:schemeClr val="accent6"/>
                </a:solidFill>
              </a:rPr>
              <a:t>Select a finding to lift its evidence.</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bg1"/>
                </a:solidFill>
              </a:rPr>
              <a:t>We attach a tested counterfactual to the finding</a:t>
            </a:r>
            <a:endParaRPr lang="en-US" sz="2800" dirty="0"/>
          </a:p>
        </p:txBody>
      </p:sp>
      <p:pic>
        <p:nvPicPr>
          <p:cNvPr id="3" name="shot-11-run_2" descr="C:\Projects\KGCR_Cloud_Project_2026\presentation\screenshots\tiles\11-run_2.png">    </p:cNvPr>
          <p:cNvPicPr>
            <a:picLocks noChangeAspect="1"/>
          </p:cNvPicPr>
          <p:nvPr/>
        </p:nvPicPr>
        <p:blipFill>
          <a:blip r:embed="rId1"/>
          <a:stretch>
            <a:fillRect/>
          </a:stretch>
        </p:blipFill>
        <p:spPr>
          <a:xfrm>
            <a:off x="548640" y="1188720"/>
            <a:ext cx="9144000" cy="5143500"/>
          </a:xfrm>
          <a:prstGeom prst="rect">
            <a:avLst/>
          </a:prstGeom>
        </p:spPr>
      </p:pic>
      <p:sp>
        <p:nvSpPr>
          <p:cNvPr id="4" name="Text 1"/>
          <p:cNvSpPr txBox="1"/>
          <p:nvPr/>
        </p:nvSpPr>
        <p:spPr>
          <a:xfrm>
            <a:off x="9921240" y="1188720"/>
            <a:ext cx="1737360" cy="512064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chemeClr val="accent6"/>
                </a:solidFill>
              </a:rPr>
              <a:t>The finding names the control, the path and the resolved counterfactual.</a:t>
            </a:r>
            <a:endParaRPr lang="en-US" sz="1200" dirty="0"/>
          </a:p>
          <a:p>
            <a:pPr marL="342900" indent="-342900">
              <a:spcAft>
                <a:spcPts val="1000"/>
              </a:spcAft>
              <a:buSzPct val="100000"/>
              <a:buChar char="•"/>
            </a:pPr>
            <a:r>
              <a:rPr lang="en-US" sz="1200" dirty="0">
                <a:solidFill>
                  <a:schemeClr val="accent6"/>
                </a:solidFill>
              </a:rPr>
              <a:t>Timings are measured, not estimated.</a:t>
            </a:r>
            <a:endParaRPr lang="en-US" sz="1200" dirty="0"/>
          </a:p>
          <a:p>
            <a:pPr marL="342900" indent="-342900">
              <a:spcAft>
                <a:spcPts val="1000"/>
              </a:spcAft>
              <a:buSzPct val="100000"/>
              <a:buChar char="•"/>
            </a:pPr>
            <a:r>
              <a:rPr lang="en-US" sz="1200" dirty="0">
                <a:solidFill>
                  <a:schemeClr val="accent6"/>
                </a:solidFill>
              </a:rPr>
              <a:t>Reconstructed intent, with a confidence bar per axis.</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bg1"/>
                </a:solidFill>
              </a:rPr>
              <a:t>We pin the claims so all three audiences agree</a:t>
            </a:r>
            <a:endParaRPr lang="en-US" sz="2800" dirty="0"/>
          </a:p>
        </p:txBody>
      </p:sp>
      <p:pic>
        <p:nvPicPr>
          <p:cNvPr id="3" name="shot-11-run_3" descr="C:\Projects\KGCR_Cloud_Project_2026\presentation\screenshots\tiles\11-run_3.png">    </p:cNvPr>
          <p:cNvPicPr>
            <a:picLocks noChangeAspect="1"/>
          </p:cNvPicPr>
          <p:nvPr/>
        </p:nvPicPr>
        <p:blipFill>
          <a:blip r:embed="rId1"/>
          <a:stretch>
            <a:fillRect/>
          </a:stretch>
        </p:blipFill>
        <p:spPr>
          <a:xfrm>
            <a:off x="548640" y="1188720"/>
            <a:ext cx="9144000" cy="5143500"/>
          </a:xfrm>
          <a:prstGeom prst="rect">
            <a:avLst/>
          </a:prstGeom>
        </p:spPr>
      </p:pic>
      <p:sp>
        <p:nvSpPr>
          <p:cNvPr id="4" name="Text 1"/>
          <p:cNvSpPr txBox="1"/>
          <p:nvPr/>
        </p:nvSpPr>
        <p:spPr>
          <a:xfrm>
            <a:off x="9921240" y="1188720"/>
            <a:ext cx="1737360" cy="512064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chemeClr val="accent6"/>
                </a:solidFill>
              </a:rPr>
              <a:t>Template-rendered text, with no model writing a word of it.</a:t>
            </a:r>
            <a:endParaRPr lang="en-US" sz="1200" dirty="0"/>
          </a:p>
          <a:p>
            <a:pPr marL="342900" indent="-342900">
              <a:spcAft>
                <a:spcPts val="1000"/>
              </a:spcAft>
              <a:buSzPct val="100000"/>
              <a:buChar char="•"/>
            </a:pPr>
            <a:r>
              <a:rPr lang="en-US" sz="1200" dirty="0">
                <a:solidFill>
                  <a:schemeClr val="accent6"/>
                </a:solidFill>
              </a:rPr>
              <a:t>Pinned claims are extracted back out of every rendering.</a:t>
            </a:r>
            <a:endParaRPr lang="en-US" sz="1200" dirty="0"/>
          </a:p>
          <a:p>
            <a:pPr marL="342900" indent="-342900">
              <a:spcAft>
                <a:spcPts val="1000"/>
              </a:spcAft>
              <a:buSzPct val="100000"/>
              <a:buChar char="•"/>
            </a:pPr>
            <a:r>
              <a:rPr lang="en-US" sz="1200" dirty="0">
                <a:solidFill>
                  <a:schemeClr val="accent6"/>
                </a:solidFill>
              </a:rPr>
              <a:t>Identical across architect, auditor and learner.</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bg1"/>
                </a:solidFill>
              </a:rPr>
              <a:t>We keep every run, searchable</a:t>
            </a:r>
            <a:endParaRPr lang="en-US" sz="2800" dirty="0"/>
          </a:p>
        </p:txBody>
      </p:sp>
      <p:pic>
        <p:nvPicPr>
          <p:cNvPr id="3" name="shot-12-history_1" descr="C:\Projects\KGCR_Cloud_Project_2026\presentation\screenshots\tiles\12-history_1.png">    </p:cNvPr>
          <p:cNvPicPr>
            <a:picLocks noChangeAspect="1"/>
          </p:cNvPicPr>
          <p:nvPr/>
        </p:nvPicPr>
        <p:blipFill>
          <a:blip r:embed="rId1"/>
          <a:stretch>
            <a:fillRect/>
          </a:stretch>
        </p:blipFill>
        <p:spPr>
          <a:xfrm>
            <a:off x="548640" y="1188720"/>
            <a:ext cx="9144000" cy="5143500"/>
          </a:xfrm>
          <a:prstGeom prst="rect">
            <a:avLst/>
          </a:prstGeom>
        </p:spPr>
      </p:pic>
      <p:sp>
        <p:nvSpPr>
          <p:cNvPr id="4" name="Text 1"/>
          <p:cNvSpPr txBox="1"/>
          <p:nvPr/>
        </p:nvSpPr>
        <p:spPr>
          <a:xfrm>
            <a:off x="9921240" y="1188720"/>
            <a:ext cx="1737360" cy="512064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chemeClr val="accent6"/>
                </a:solidFill>
              </a:rPr>
              <a:t>One row per run: variant, loop outcome, finding severities.</a:t>
            </a:r>
            <a:endParaRPr lang="en-US" sz="1200" dirty="0"/>
          </a:p>
          <a:p>
            <a:pPr marL="342900" indent="-342900">
              <a:spcAft>
                <a:spcPts val="1000"/>
              </a:spcAft>
              <a:buSzPct val="100000"/>
              <a:buChar char="•"/>
            </a:pPr>
            <a:r>
              <a:rPr lang="en-US" sz="1200" dirty="0">
                <a:solidFill>
                  <a:schemeClr val="accent6"/>
                </a:solidFill>
              </a:rPr>
              <a:t>This session or all runs.</a:t>
            </a:r>
            <a:endParaRPr lang="en-US" sz="1200" dirty="0"/>
          </a:p>
          <a:p>
            <a:pPr marL="342900" indent="-342900">
              <a:spcAft>
                <a:spcPts val="1000"/>
              </a:spcAft>
              <a:buSzPct val="100000"/>
              <a:buChar char="•"/>
            </a:pPr>
            <a:r>
              <a:rPr lang="en-US" sz="1200" dirty="0">
                <a:solidFill>
                  <a:schemeClr val="accent6"/>
                </a:solidFill>
              </a:rPr>
              <a:t>Click through to the run sleeve.</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bg1"/>
                </a:solidFill>
              </a:rPr>
              <a:t>We turn a sentence into a design, quoting the evidence</a:t>
            </a:r>
            <a:endParaRPr lang="en-US" sz="2800" dirty="0"/>
          </a:p>
        </p:txBody>
      </p:sp>
      <p:pic>
        <p:nvPicPr>
          <p:cNvPr id="3" name="shot-13-design_1" descr="C:\Projects\KGCR_Cloud_Project_2026\presentation\screenshots\tiles\13-design_1.png">    </p:cNvPr>
          <p:cNvPicPr>
            <a:picLocks noChangeAspect="1"/>
          </p:cNvPicPr>
          <p:nvPr/>
        </p:nvPicPr>
        <p:blipFill>
          <a:blip r:embed="rId1"/>
          <a:stretch>
            <a:fillRect/>
          </a:stretch>
        </p:blipFill>
        <p:spPr>
          <a:xfrm>
            <a:off x="548640" y="1188720"/>
            <a:ext cx="9144000" cy="5143500"/>
          </a:xfrm>
          <a:prstGeom prst="rect">
            <a:avLst/>
          </a:prstGeom>
        </p:spPr>
      </p:pic>
      <p:sp>
        <p:nvSpPr>
          <p:cNvPr id="4" name="Text 1"/>
          <p:cNvSpPr txBox="1"/>
          <p:nvPr/>
        </p:nvSpPr>
        <p:spPr>
          <a:xfrm>
            <a:off x="9921240" y="1188720"/>
            <a:ext cx="1737360" cy="512064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chemeClr val="accent6"/>
                </a:solidFill>
              </a:rPr>
              <a:t>Paste a workload statement. We read it and quote the text behind each axis.</a:t>
            </a:r>
            <a:endParaRPr lang="en-US" sz="1200" dirty="0"/>
          </a:p>
          <a:p>
            <a:pPr marL="342900" indent="-342900">
              <a:spcAft>
                <a:spcPts val="1000"/>
              </a:spcAft>
              <a:buSzPct val="100000"/>
              <a:buChar char="•"/>
            </a:pPr>
            <a:r>
              <a:rPr lang="en-US" sz="1200" dirty="0">
                <a:solidFill>
                  <a:schemeClr val="accent6"/>
                </a:solidFill>
              </a:rPr>
              <a:t>Eight of eight axes grounded in the statement.</a:t>
            </a:r>
            <a:endParaRPr lang="en-US" sz="1200" dirty="0"/>
          </a:p>
          <a:p>
            <a:pPr marL="342900" indent="-342900">
              <a:spcAft>
                <a:spcPts val="1000"/>
              </a:spcAft>
              <a:buSzPct val="100000"/>
              <a:buChar char="•"/>
            </a:pPr>
            <a:r>
              <a:rPr lang="en-US" sz="1200" dirty="0">
                <a:solidFill>
                  <a:schemeClr val="accent6"/>
                </a:solidFill>
              </a:rPr>
              <a:t>You confirm what the model filled before anything runs.</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bg1"/>
                </a:solidFill>
              </a:rPr>
              <a:t>We plan before we apply, and we show the whole estate</a:t>
            </a:r>
            <a:endParaRPr lang="en-US" sz="2800" dirty="0"/>
          </a:p>
        </p:txBody>
      </p:sp>
      <p:pic>
        <p:nvPicPr>
          <p:cNvPr id="3" name="shot-14-plan_1" descr="C:\Projects\KGCR_Cloud_Project_2026\presentation\screenshots\tiles\14-plan_1.png">    </p:cNvPr>
          <p:cNvPicPr>
            <a:picLocks noChangeAspect="1"/>
          </p:cNvPicPr>
          <p:nvPr/>
        </p:nvPicPr>
        <p:blipFill>
          <a:blip r:embed="rId1"/>
          <a:stretch>
            <a:fillRect/>
          </a:stretch>
        </p:blipFill>
        <p:spPr>
          <a:xfrm>
            <a:off x="548640" y="1188720"/>
            <a:ext cx="9144000" cy="5143500"/>
          </a:xfrm>
          <a:prstGeom prst="rect">
            <a:avLst/>
          </a:prstGeom>
        </p:spPr>
      </p:pic>
      <p:sp>
        <p:nvSpPr>
          <p:cNvPr id="4" name="Text 1"/>
          <p:cNvSpPr txBox="1"/>
          <p:nvPr/>
        </p:nvSpPr>
        <p:spPr>
          <a:xfrm>
            <a:off x="9921240" y="1188720"/>
            <a:ext cx="1737360" cy="512064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chemeClr val="accent6"/>
                </a:solidFill>
              </a:rPr>
              <a:t>Reviewed, planned, applied: three steps, each gated.</a:t>
            </a:r>
            <a:endParaRPr lang="en-US" sz="1200" dirty="0"/>
          </a:p>
          <a:p>
            <a:pPr marL="342900" indent="-342900">
              <a:spcAft>
                <a:spcPts val="1000"/>
              </a:spcAft>
              <a:buSzPct val="100000"/>
              <a:buChar char="•"/>
            </a:pPr>
            <a:r>
              <a:rPr lang="en-US" sz="1200" dirty="0">
                <a:solidFill>
                  <a:schemeClr val="accent6"/>
                </a:solidFill>
              </a:rPr>
              <a:t>The estate graph shows what the plan creates.</a:t>
            </a:r>
            <a:endParaRPr lang="en-US" sz="1200" dirty="0"/>
          </a:p>
          <a:p>
            <a:pPr marL="342900" indent="-342900">
              <a:spcAft>
                <a:spcPts val="1000"/>
              </a:spcAft>
              <a:buSzPct val="100000"/>
              <a:buChar char="•"/>
            </a:pPr>
            <a:r>
              <a:rPr lang="en-US" sz="1200" dirty="0">
                <a:solidFill>
                  <a:schemeClr val="accent6"/>
                </a:solidFill>
              </a:rPr>
              <a:t>Local diff or the real Terraform binary, offline.</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bg1"/>
                </a:solidFill>
              </a:rPr>
              <a:t>We list every change and its blast radius</a:t>
            </a:r>
            <a:endParaRPr lang="en-US" sz="2800" dirty="0"/>
          </a:p>
        </p:txBody>
      </p:sp>
      <p:pic>
        <p:nvPicPr>
          <p:cNvPr id="3" name="shot-14-plan_2" descr="C:\Projects\KGCR_Cloud_Project_2026\presentation\screenshots\tiles\14-plan_2.png">    </p:cNvPr>
          <p:cNvPicPr>
            <a:picLocks noChangeAspect="1"/>
          </p:cNvPicPr>
          <p:nvPr/>
        </p:nvPicPr>
        <p:blipFill>
          <a:blip r:embed="rId1"/>
          <a:stretch>
            <a:fillRect/>
          </a:stretch>
        </p:blipFill>
        <p:spPr>
          <a:xfrm>
            <a:off x="548640" y="1188720"/>
            <a:ext cx="9144000" cy="5143500"/>
          </a:xfrm>
          <a:prstGeom prst="rect">
            <a:avLst/>
          </a:prstGeom>
        </p:spPr>
      </p:pic>
      <p:sp>
        <p:nvSpPr>
          <p:cNvPr id="4" name="Text 1"/>
          <p:cNvSpPr txBox="1"/>
          <p:nvPr/>
        </p:nvSpPr>
        <p:spPr>
          <a:xfrm>
            <a:off x="9921240" y="1188720"/>
            <a:ext cx="1737360" cy="512064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chemeClr val="accent6"/>
                </a:solidFill>
              </a:rPr>
              <a:t>Create 15, modify 0, destroy 0.</a:t>
            </a:r>
            <a:endParaRPr lang="en-US" sz="1200" dirty="0"/>
          </a:p>
          <a:p>
            <a:pPr marL="342900" indent="-342900">
              <a:spcAft>
                <a:spcPts val="1000"/>
              </a:spcAft>
              <a:buSzPct val="100000"/>
              <a:buChar char="•"/>
            </a:pPr>
            <a:r>
              <a:rPr lang="en-US" sz="1200" dirty="0">
                <a:solidFill>
                  <a:schemeClr val="accent6"/>
                </a:solidFill>
              </a:rPr>
              <a:t>Findings in the spec: none before, none after.</a:t>
            </a:r>
            <a:endParaRPr lang="en-US" sz="1200" dirty="0"/>
          </a:p>
          <a:p>
            <a:pPr marL="342900" indent="-342900">
              <a:spcAft>
                <a:spcPts val="1000"/>
              </a:spcAft>
              <a:buSzPct val="100000"/>
              <a:buChar char="•"/>
            </a:pPr>
            <a:r>
              <a:rPr lang="en-US" sz="1200" dirty="0">
                <a:solidFill>
                  <a:schemeClr val="accent6"/>
                </a:solidFill>
              </a:rPr>
              <a:t>Each resource is a row you can lift on the graph.</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bg1"/>
                </a:solidFill>
              </a:rPr>
              <a:t>We price it from AWS list prices, then apply it safely</a:t>
            </a:r>
            <a:endParaRPr lang="en-US" sz="2800" dirty="0"/>
          </a:p>
        </p:txBody>
      </p:sp>
      <p:pic>
        <p:nvPicPr>
          <p:cNvPr id="3" name="shot-14-plan_3" descr="C:\Projects\KGCR_Cloud_Project_2026\presentation\screenshots\tiles\14-plan_3.png">    </p:cNvPr>
          <p:cNvPicPr>
            <a:picLocks noChangeAspect="1"/>
          </p:cNvPicPr>
          <p:nvPr/>
        </p:nvPicPr>
        <p:blipFill>
          <a:blip r:embed="rId1"/>
          <a:stretch>
            <a:fillRect/>
          </a:stretch>
        </p:blipFill>
        <p:spPr>
          <a:xfrm>
            <a:off x="548640" y="1188720"/>
            <a:ext cx="9144000" cy="5143500"/>
          </a:xfrm>
          <a:prstGeom prst="rect">
            <a:avLst/>
          </a:prstGeom>
        </p:spPr>
      </p:pic>
      <p:sp>
        <p:nvSpPr>
          <p:cNvPr id="4" name="Text 1"/>
          <p:cNvSpPr txBox="1"/>
          <p:nvPr/>
        </p:nvSpPr>
        <p:spPr>
          <a:xfrm>
            <a:off x="9921240" y="1188720"/>
            <a:ext cx="1737360" cy="512064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chemeClr val="accent6"/>
                </a:solidFill>
              </a:rPr>
              <a:t>+50.41 USD a month, priced items only; we name what the figure leaves out.</a:t>
            </a:r>
            <a:endParaRPr lang="en-US" sz="1200" dirty="0"/>
          </a:p>
          <a:p>
            <a:pPr marL="342900" indent="-342900">
              <a:spcAft>
                <a:spcPts val="1000"/>
              </a:spcAft>
              <a:buSzPct val="100000"/>
              <a:buChar char="•"/>
            </a:pPr>
            <a:r>
              <a:rPr lang="en-US" sz="1200" dirty="0">
                <a:solidFill>
                  <a:schemeClr val="accent6"/>
                </a:solidFill>
              </a:rPr>
              <a:t>The simulated apply reports each create as done.</a:t>
            </a:r>
            <a:endParaRPr lang="en-US" sz="1200" dirty="0"/>
          </a:p>
          <a:p>
            <a:pPr marL="342900" indent="-342900">
              <a:spcAft>
                <a:spcPts val="1000"/>
              </a:spcAft>
              <a:buSzPct val="100000"/>
              <a:buChar char="•"/>
            </a:pPr>
            <a:r>
              <a:rPr lang="en-US" sz="1200" dirty="0">
                <a:solidFill>
                  <a:schemeClr val="accent6"/>
                </a:solidFill>
              </a:rPr>
              <a:t>Nothing leaves this machine.</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bg1"/>
                </a:solidFill>
              </a:rPr>
              <a:t>We gate the release on the numbers, in the admin view</a:t>
            </a:r>
            <a:endParaRPr lang="en-US" sz="2800" dirty="0"/>
          </a:p>
        </p:txBody>
      </p:sp>
      <p:pic>
        <p:nvPicPr>
          <p:cNvPr id="3" name="shot-20-gates_1" descr="C:\Projects\KGCR_Cloud_Project_2026\presentation\screenshots\tiles\20-gates_1.png">    </p:cNvPr>
          <p:cNvPicPr>
            <a:picLocks noChangeAspect="1"/>
          </p:cNvPicPr>
          <p:nvPr/>
        </p:nvPicPr>
        <p:blipFill>
          <a:blip r:embed="rId1"/>
          <a:stretch>
            <a:fillRect/>
          </a:stretch>
        </p:blipFill>
        <p:spPr>
          <a:xfrm>
            <a:off x="548640" y="1188720"/>
            <a:ext cx="9144000" cy="5143500"/>
          </a:xfrm>
          <a:prstGeom prst="rect">
            <a:avLst/>
          </a:prstGeom>
        </p:spPr>
      </p:pic>
      <p:sp>
        <p:nvSpPr>
          <p:cNvPr id="4" name="Text 1"/>
          <p:cNvSpPr txBox="1"/>
          <p:nvPr/>
        </p:nvSpPr>
        <p:spPr>
          <a:xfrm>
            <a:off x="9921240" y="1188720"/>
            <a:ext cx="1737360" cy="512064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chemeClr val="accent6"/>
                </a:solidFill>
              </a:rPr>
              <a:t>The sycophancy gate reads Pass.</a:t>
            </a:r>
            <a:endParaRPr lang="en-US" sz="1200" dirty="0"/>
          </a:p>
          <a:p>
            <a:pPr marL="342900" indent="-342900">
              <a:spcAft>
                <a:spcPts val="1000"/>
              </a:spcAft>
              <a:buSzPct val="100000"/>
              <a:buChar char="•"/>
            </a:pPr>
            <a:r>
              <a:rPr lang="en-US" sz="1200" dirty="0">
                <a:solidFill>
                  <a:schemeClr val="accent6"/>
                </a:solidFill>
              </a:rPr>
              <a:t>Recommender, reconstruction and advisor results on one page.</a:t>
            </a:r>
            <a:endParaRPr lang="en-US" sz="1200" dirty="0"/>
          </a:p>
          <a:p>
            <a:pPr marL="342900" indent="-342900">
              <a:spcAft>
                <a:spcPts val="1000"/>
              </a:spcAft>
              <a:buSzPct val="100000"/>
              <a:buChar char="•"/>
            </a:pPr>
            <a:r>
              <a:rPr lang="en-US" sz="1200" dirty="0">
                <a:solidFill>
                  <a:schemeClr val="accent6"/>
                </a:solidFill>
              </a:rPr>
              <a:t>Recall per defect class, straight from the committed reports.</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bg1"/>
                </a:solidFill>
              </a:rPr>
              <a:t>We chart the recommender and calibration too</a:t>
            </a:r>
            <a:endParaRPr lang="en-US" sz="2800" dirty="0"/>
          </a:p>
        </p:txBody>
      </p:sp>
      <p:pic>
        <p:nvPicPr>
          <p:cNvPr id="3" name="shot-20-gates_2" descr="C:\Projects\KGCR_Cloud_Project_2026\presentation\screenshots\tiles\20-gates_2.png">    </p:cNvPr>
          <p:cNvPicPr>
            <a:picLocks noChangeAspect="1"/>
          </p:cNvPicPr>
          <p:nvPr/>
        </p:nvPicPr>
        <p:blipFill>
          <a:blip r:embed="rId1"/>
          <a:stretch>
            <a:fillRect/>
          </a:stretch>
        </p:blipFill>
        <p:spPr>
          <a:xfrm>
            <a:off x="548640" y="1188720"/>
            <a:ext cx="9144000" cy="5143500"/>
          </a:xfrm>
          <a:prstGeom prst="rect">
            <a:avLst/>
          </a:prstGeom>
        </p:spPr>
      </p:pic>
      <p:sp>
        <p:nvSpPr>
          <p:cNvPr id="4" name="Text 1"/>
          <p:cNvSpPr txBox="1"/>
          <p:nvPr/>
        </p:nvSpPr>
        <p:spPr>
          <a:xfrm>
            <a:off x="9921240" y="1188720"/>
            <a:ext cx="1737360" cy="512064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chemeClr val="accent6"/>
                </a:solidFill>
              </a:rPr>
              <a:t>Recommender against baselines, with exact set, R-precision, nDCG and P at 10.</a:t>
            </a:r>
            <a:endParaRPr lang="en-US" sz="1200" dirty="0"/>
          </a:p>
          <a:p>
            <a:pPr marL="342900" indent="-342900">
              <a:spcAft>
                <a:spcPts val="1000"/>
              </a:spcAft>
              <a:buSzPct val="100000"/>
              <a:buChar char="•"/>
            </a:pPr>
            <a:r>
              <a:rPr lang="en-US" sz="1200" dirty="0">
                <a:solidFill>
                  <a:schemeClr val="accent6"/>
                </a:solidFill>
              </a:rPr>
              <a:t>Reconstruction calibration, per axis.</a:t>
            </a:r>
            <a:endParaRPr lang="en-US" sz="1200" dirty="0"/>
          </a:p>
          <a:p>
            <a:pPr marL="342900" indent="-342900">
              <a:spcAft>
                <a:spcPts val="1000"/>
              </a:spcAft>
              <a:buSzPct val="100000"/>
              <a:buChar char="•"/>
            </a:pPr>
            <a:r>
              <a:rPr lang="en-US" sz="1200" dirty="0">
                <a:solidFill>
                  <a:schemeClr val="accent6"/>
                </a:solidFill>
              </a:rPr>
              <a:t>Every sycophancy trial listed, valid or not.</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bg1"/>
                </a:solidFill>
              </a:rPr>
              <a:t>We queue jobs and watch them run</a:t>
            </a:r>
            <a:endParaRPr lang="en-US" sz="2800" dirty="0"/>
          </a:p>
        </p:txBody>
      </p:sp>
      <p:pic>
        <p:nvPicPr>
          <p:cNvPr id="3" name="shot-21-jobs_1" descr="C:\Projects\KGCR_Cloud_Project_2026\presentation\screenshots\tiles\21-jobs_1.png">    </p:cNvPr>
          <p:cNvPicPr>
            <a:picLocks noChangeAspect="1"/>
          </p:cNvPicPr>
          <p:nvPr/>
        </p:nvPicPr>
        <p:blipFill>
          <a:blip r:embed="rId1"/>
          <a:stretch>
            <a:fillRect/>
          </a:stretch>
        </p:blipFill>
        <p:spPr>
          <a:xfrm>
            <a:off x="548640" y="1188720"/>
            <a:ext cx="9144000" cy="5143500"/>
          </a:xfrm>
          <a:prstGeom prst="rect">
            <a:avLst/>
          </a:prstGeom>
        </p:spPr>
      </p:pic>
      <p:sp>
        <p:nvSpPr>
          <p:cNvPr id="4" name="Text 1"/>
          <p:cNvSpPr txBox="1"/>
          <p:nvPr/>
        </p:nvSpPr>
        <p:spPr>
          <a:xfrm>
            <a:off x="9921240" y="1188720"/>
            <a:ext cx="1737360" cy="512064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chemeClr val="accent6"/>
                </a:solidFill>
              </a:rPr>
              <a:t>Review, design, plan and apply launch as subprocesses, one at a time.</a:t>
            </a:r>
            <a:endParaRPr lang="en-US" sz="1200" dirty="0"/>
          </a:p>
          <a:p>
            <a:pPr marL="342900" indent="-342900">
              <a:spcAft>
                <a:spcPts val="1000"/>
              </a:spcAft>
              <a:buSzPct val="100000"/>
              <a:buChar char="•"/>
            </a:pPr>
            <a:r>
              <a:rPr lang="en-US" sz="1200" dirty="0">
                <a:solidFill>
                  <a:schemeClr val="accent6"/>
                </a:solidFill>
              </a:rPr>
              <a:t>A queue with measured durations.</a:t>
            </a:r>
            <a:endParaRPr lang="en-US" sz="1200" dirty="0"/>
          </a:p>
          <a:p>
            <a:pPr marL="342900" indent="-342900">
              <a:spcAft>
                <a:spcPts val="1000"/>
              </a:spcAft>
              <a:buSzPct val="100000"/>
              <a:buChar char="•"/>
            </a:pPr>
            <a:r>
              <a:rPr lang="en-US" sz="1200" dirty="0">
                <a:solidFill>
                  <a:schemeClr val="accent6"/>
                </a:solidFill>
              </a:rPr>
              <a:t>Every job writes into its own run directory.</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bg1"/>
                </a:solidFill>
              </a:rPr>
              <a:t>We keep sessions in a local database</a:t>
            </a:r>
            <a:endParaRPr lang="en-US" sz="2800" dirty="0"/>
          </a:p>
        </p:txBody>
      </p:sp>
      <p:pic>
        <p:nvPicPr>
          <p:cNvPr id="3" name="shot-22-sessions_1" descr="C:\Projects\KGCR_Cloud_Project_2026\presentation\screenshots\tiles\22-sessions_1.png">    </p:cNvPr>
          <p:cNvPicPr>
            <a:picLocks noChangeAspect="1"/>
          </p:cNvPicPr>
          <p:nvPr/>
        </p:nvPicPr>
        <p:blipFill>
          <a:blip r:embed="rId1"/>
          <a:stretch>
            <a:fillRect/>
          </a:stretch>
        </p:blipFill>
        <p:spPr>
          <a:xfrm>
            <a:off x="548640" y="1188720"/>
            <a:ext cx="9144000" cy="5143500"/>
          </a:xfrm>
          <a:prstGeom prst="rect">
            <a:avLst/>
          </a:prstGeom>
        </p:spPr>
      </p:pic>
      <p:sp>
        <p:nvSpPr>
          <p:cNvPr id="4" name="Text 1"/>
          <p:cNvSpPr txBox="1"/>
          <p:nvPr/>
        </p:nvSpPr>
        <p:spPr>
          <a:xfrm>
            <a:off x="9921240" y="1188720"/>
            <a:ext cx="1737360" cy="512064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chemeClr val="accent6"/>
                </a:solidFill>
              </a:rPr>
              <a:t>Each role choice on the cover opens a session.</a:t>
            </a:r>
            <a:endParaRPr lang="en-US" sz="1200" dirty="0"/>
          </a:p>
          <a:p>
            <a:pPr marL="342900" indent="-342900">
              <a:spcAft>
                <a:spcPts val="1000"/>
              </a:spcAft>
              <a:buSzPct val="100000"/>
              <a:buChar char="•"/>
            </a:pPr>
            <a:r>
              <a:rPr lang="en-US" sz="1200" dirty="0">
                <a:solidFill>
                  <a:schemeClr val="accent6"/>
                </a:solidFill>
              </a:rPr>
              <a:t>Run history and authorship are kept in SQLite.</a:t>
            </a:r>
            <a:endParaRPr lang="en-US" sz="1200" dirty="0"/>
          </a:p>
          <a:p>
            <a:pPr marL="342900" indent="-342900">
              <a:spcAft>
                <a:spcPts val="1000"/>
              </a:spcAft>
              <a:buSzPct val="100000"/>
              <a:buChar char="•"/>
            </a:pPr>
            <a:r>
              <a:rPr lang="en-US" sz="1200" dirty="0">
                <a:solidFill>
                  <a:schemeClr val="accent6"/>
                </a:solidFill>
              </a:rPr>
              <a:t>No login, by design: it is local only.</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bg1"/>
                </a:solidFill>
              </a:rPr>
              <a:t>We record every model response and replay it offline</a:t>
            </a:r>
            <a:endParaRPr lang="en-US" sz="2800" dirty="0"/>
          </a:p>
        </p:txBody>
      </p:sp>
      <p:pic>
        <p:nvPicPr>
          <p:cNvPr id="3" name="shot-23-fixtures_1" descr="C:\Projects\KGCR_Cloud_Project_2026\presentation\screenshots\tiles\23-fixtures_1.png">    </p:cNvPr>
          <p:cNvPicPr>
            <a:picLocks noChangeAspect="1"/>
          </p:cNvPicPr>
          <p:nvPr/>
        </p:nvPicPr>
        <p:blipFill>
          <a:blip r:embed="rId1"/>
          <a:stretch>
            <a:fillRect/>
          </a:stretch>
        </p:blipFill>
        <p:spPr>
          <a:xfrm>
            <a:off x="548640" y="1188720"/>
            <a:ext cx="9144000" cy="5143500"/>
          </a:xfrm>
          <a:prstGeom prst="rect">
            <a:avLst/>
          </a:prstGeom>
        </p:spPr>
      </p:pic>
      <p:sp>
        <p:nvSpPr>
          <p:cNvPr id="4" name="Text 1"/>
          <p:cNvSpPr txBox="1"/>
          <p:nvPr/>
        </p:nvSpPr>
        <p:spPr>
          <a:xfrm>
            <a:off x="9921240" y="1188720"/>
            <a:ext cx="1737360" cy="512064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chemeClr val="accent6"/>
                </a:solidFill>
              </a:rPr>
              <a:t>Every Gemini call is stored as a fixture.</a:t>
            </a:r>
            <a:endParaRPr lang="en-US" sz="1200" dirty="0"/>
          </a:p>
          <a:p>
            <a:pPr marL="342900" indent="-342900">
              <a:spcAft>
                <a:spcPts val="1000"/>
              </a:spcAft>
              <a:buSzPct val="100000"/>
              <a:buChar char="•"/>
            </a:pPr>
            <a:r>
              <a:rPr lang="en-US" sz="1200" dirty="0">
                <a:solidFill>
                  <a:schemeClr val="accent6"/>
                </a:solidFill>
              </a:rPr>
              <a:t>Replay is the default, so a demo never depends on a quota.</a:t>
            </a:r>
            <a:endParaRPr lang="en-US" sz="1200" dirty="0"/>
          </a:p>
          <a:p>
            <a:pPr marL="342900" indent="-342900">
              <a:spcAft>
                <a:spcPts val="1000"/>
              </a:spcAft>
              <a:buSzPct val="100000"/>
              <a:buChar char="•"/>
            </a:pPr>
            <a:r>
              <a:rPr lang="en-US" sz="1200" dirty="0">
                <a:solidFill>
                  <a:schemeClr val="accent6"/>
                </a:solidFill>
              </a:rPr>
              <a:t>Intent, review, clean-estate and sycophancy fixtures.</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bg1"/>
                </a:solidFill>
              </a:rPr>
              <a:t>We review the controls in an append-only log</a:t>
            </a:r>
            <a:endParaRPr lang="en-US" sz="2800" dirty="0"/>
          </a:p>
        </p:txBody>
      </p:sp>
      <p:pic>
        <p:nvPicPr>
          <p:cNvPr id="3" name="shot-24-controls_1" descr="C:\Projects\KGCR_Cloud_Project_2026\presentation\screenshots\tiles\24-controls_1.png">    </p:cNvPr>
          <p:cNvPicPr>
            <a:picLocks noChangeAspect="1"/>
          </p:cNvPicPr>
          <p:nvPr/>
        </p:nvPicPr>
        <p:blipFill>
          <a:blip r:embed="rId1"/>
          <a:stretch>
            <a:fillRect/>
          </a:stretch>
        </p:blipFill>
        <p:spPr>
          <a:xfrm>
            <a:off x="548640" y="1188720"/>
            <a:ext cx="9144000" cy="5143500"/>
          </a:xfrm>
          <a:prstGeom prst="rect">
            <a:avLst/>
          </a:prstGeom>
        </p:spPr>
      </p:pic>
      <p:sp>
        <p:nvSpPr>
          <p:cNvPr id="4" name="Text 1"/>
          <p:cNvSpPr txBox="1"/>
          <p:nvPr/>
        </p:nvSpPr>
        <p:spPr>
          <a:xfrm>
            <a:off x="9921240" y="1188720"/>
            <a:ext cx="1737360" cy="512064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chemeClr val="accent6"/>
                </a:solidFill>
              </a:rPr>
              <a:t>Six draft controls, each linked to its source.</a:t>
            </a:r>
            <a:endParaRPr lang="en-US" sz="1200" dirty="0"/>
          </a:p>
          <a:p>
            <a:pPr marL="342900" indent="-342900">
              <a:spcAft>
                <a:spcPts val="1000"/>
              </a:spcAft>
              <a:buSzPct val="100000"/>
              <a:buChar char="•"/>
            </a:pPr>
            <a:r>
              <a:rPr lang="en-US" sz="1200" dirty="0">
                <a:solidFill>
                  <a:schemeClr val="accent6"/>
                </a:solidFill>
              </a:rPr>
              <a:t>Reviewer is never the author. A CRITICAL comment blocks sign-off.</a:t>
            </a:r>
            <a:endParaRPr lang="en-US" sz="1200" dirty="0"/>
          </a:p>
          <a:p>
            <a:pPr marL="342900" indent="-342900">
              <a:spcAft>
                <a:spcPts val="1000"/>
              </a:spcAft>
              <a:buSzPct val="100000"/>
              <a:buChar char="•"/>
            </a:pPr>
            <a:r>
              <a:rPr lang="en-US" sz="1200" dirty="0">
                <a:solidFill>
                  <a:schemeClr val="accent6"/>
                </a:solidFill>
              </a:rPr>
              <a:t>Decisions can be recorded, never edited.</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bg1"/>
                </a:solidFill>
              </a:rPr>
              <a:t>We fingerprint the environment</a:t>
            </a:r>
            <a:endParaRPr lang="en-US" sz="2800" dirty="0"/>
          </a:p>
        </p:txBody>
      </p:sp>
      <p:pic>
        <p:nvPicPr>
          <p:cNvPr id="3" name="shot-25-environment_1" descr="C:\Projects\KGCR_Cloud_Project_2026\presentation\screenshots\tiles\25-environment_1.png">    </p:cNvPr>
          <p:cNvPicPr>
            <a:picLocks noChangeAspect="1"/>
          </p:cNvPicPr>
          <p:nvPr/>
        </p:nvPicPr>
        <p:blipFill>
          <a:blip r:embed="rId1"/>
          <a:stretch>
            <a:fillRect/>
          </a:stretch>
        </p:blipFill>
        <p:spPr>
          <a:xfrm>
            <a:off x="548640" y="1188720"/>
            <a:ext cx="9144000" cy="5143500"/>
          </a:xfrm>
          <a:prstGeom prst="rect">
            <a:avLst/>
          </a:prstGeom>
        </p:spPr>
      </p:pic>
      <p:sp>
        <p:nvSpPr>
          <p:cNvPr id="4" name="Text 1"/>
          <p:cNvSpPr txBox="1"/>
          <p:nvPr/>
        </p:nvSpPr>
        <p:spPr>
          <a:xfrm>
            <a:off x="9921240" y="1188720"/>
            <a:ext cx="1737360" cy="512064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chemeClr val="accent6"/>
                </a:solidFill>
              </a:rPr>
              <a:t>Seed report and tool versions for every job.</a:t>
            </a:r>
            <a:endParaRPr lang="en-US" sz="1200" dirty="0"/>
          </a:p>
          <a:p>
            <a:pPr marL="342900" indent="-342900">
              <a:spcAft>
                <a:spcPts val="1000"/>
              </a:spcAft>
              <a:buSzPct val="100000"/>
              <a:buChar char="•"/>
            </a:pPr>
            <a:r>
              <a:rPr lang="en-US" sz="1200" dirty="0">
                <a:solidFill>
                  <a:schemeClr val="accent6"/>
                </a:solidFill>
              </a:rPr>
              <a:t>Secrets and switches show presence only, never values.</a:t>
            </a:r>
            <a:endParaRPr lang="en-US" sz="1200" dirty="0"/>
          </a:p>
          <a:p>
            <a:pPr marL="342900" indent="-342900">
              <a:spcAft>
                <a:spcPts val="1000"/>
              </a:spcAft>
              <a:buSzPct val="100000"/>
              <a:buChar char="•"/>
            </a:pPr>
            <a:r>
              <a:rPr lang="en-US" sz="1200" dirty="0">
                <a:solidFill>
                  <a:schemeClr val="accent6"/>
                </a:solidFill>
              </a:rPr>
              <a:t>Reproducibility is visible, not claimed.</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bg1"/>
                </a:solidFill>
              </a:rPr>
              <a:t>We put a spend switch on everything that costs money</a:t>
            </a:r>
            <a:endParaRPr lang="en-US" sz="2800" dirty="0"/>
          </a:p>
        </p:txBody>
      </p:sp>
      <p:pic>
        <p:nvPicPr>
          <p:cNvPr id="3" name="shot-26-cloud_1" descr="C:\Projects\KGCR_Cloud_Project_2026\presentation\screenshots\tiles\26-cloud_1.png">    </p:cNvPr>
          <p:cNvPicPr>
            <a:picLocks noChangeAspect="1"/>
          </p:cNvPicPr>
          <p:nvPr/>
        </p:nvPicPr>
        <p:blipFill>
          <a:blip r:embed="rId1"/>
          <a:stretch>
            <a:fillRect/>
          </a:stretch>
        </p:blipFill>
        <p:spPr>
          <a:xfrm>
            <a:off x="548640" y="1188720"/>
            <a:ext cx="9144000" cy="5143500"/>
          </a:xfrm>
          <a:prstGeom prst="rect">
            <a:avLst/>
          </a:prstGeom>
        </p:spPr>
      </p:pic>
      <p:sp>
        <p:nvSpPr>
          <p:cNvPr id="4" name="Text 1"/>
          <p:cNvSpPr txBox="1"/>
          <p:nvPr/>
        </p:nvSpPr>
        <p:spPr>
          <a:xfrm>
            <a:off x="9921240" y="1188720"/>
            <a:ext cx="1737360" cy="512064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chemeClr val="accent6"/>
                </a:solidFill>
              </a:rPr>
              <a:t>Replay mode by default; live calls need an explicit admin switch.</a:t>
            </a:r>
            <a:endParaRPr lang="en-US" sz="1200" dirty="0"/>
          </a:p>
          <a:p>
            <a:pPr marL="342900" indent="-342900">
              <a:spcAft>
                <a:spcPts val="1000"/>
              </a:spcAft>
              <a:buSzPct val="100000"/>
              <a:buChar char="•"/>
            </a:pPr>
            <a:r>
              <a:rPr lang="en-US" sz="1200" dirty="0">
                <a:solidFill>
                  <a:schemeClr val="accent6"/>
                </a:solidFill>
              </a:rPr>
              <a:t>A live-call budget with a hard cap.</a:t>
            </a:r>
            <a:endParaRPr lang="en-US" sz="1200" dirty="0"/>
          </a:p>
          <a:p>
            <a:pPr marL="342900" indent="-342900">
              <a:spcAft>
                <a:spcPts val="1000"/>
              </a:spcAft>
              <a:buSzPct val="100000"/>
              <a:buChar char="•"/>
            </a:pPr>
            <a:r>
              <a:rPr lang="en-US" sz="1200" dirty="0">
                <a:solidFill>
                  <a:schemeClr val="accent6"/>
                </a:solidFill>
              </a:rPr>
              <a:t>The AWS footprint is shown, and nothing is deployed.</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bg1"/>
                </a:solidFill>
              </a:rPr>
              <a:t>We list what runs and what does not, in the product</a:t>
            </a:r>
            <a:endParaRPr lang="en-US" sz="2800" dirty="0"/>
          </a:p>
        </p:txBody>
      </p:sp>
      <p:pic>
        <p:nvPicPr>
          <p:cNvPr id="3" name="shot-27-commands_1" descr="C:\Projects\KGCR_Cloud_Project_2026\presentation\screenshots\tiles\27-commands_1.png">    </p:cNvPr>
          <p:cNvPicPr>
            <a:picLocks noChangeAspect="1"/>
          </p:cNvPicPr>
          <p:nvPr/>
        </p:nvPicPr>
        <p:blipFill>
          <a:blip r:embed="rId1"/>
          <a:stretch>
            <a:fillRect/>
          </a:stretch>
        </p:blipFill>
        <p:spPr>
          <a:xfrm>
            <a:off x="548640" y="1188720"/>
            <a:ext cx="9144000" cy="5143500"/>
          </a:xfrm>
          <a:prstGeom prst="rect">
            <a:avLst/>
          </a:prstGeom>
        </p:spPr>
      </p:pic>
      <p:sp>
        <p:nvSpPr>
          <p:cNvPr id="4" name="Text 1"/>
          <p:cNvSpPr txBox="1"/>
          <p:nvPr/>
        </p:nvSpPr>
        <p:spPr>
          <a:xfrm>
            <a:off x="9921240" y="1188720"/>
            <a:ext cx="1737360" cy="512064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chemeClr val="accent6"/>
                </a:solidFill>
              </a:rPr>
              <a:t>Every CLI command, its status and where it lives in the dashboard.</a:t>
            </a:r>
            <a:endParaRPr lang="en-US" sz="1200" dirty="0"/>
          </a:p>
          <a:p>
            <a:pPr marL="342900" indent="-342900">
              <a:spcAft>
                <a:spcPts val="1000"/>
              </a:spcAft>
              <a:buSzPct val="100000"/>
              <a:buChar char="•"/>
            </a:pPr>
            <a:r>
              <a:rPr lang="en-US" sz="1200" dirty="0">
                <a:solidFill>
                  <a:schemeClr val="accent6"/>
                </a:solidFill>
              </a:rPr>
              <a:t>A 'not built' table with the reason for each item.</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bg1"/>
                </a:solidFill>
              </a:rPr>
              <a:t>We keep the Phase-I deliverables one click away</a:t>
            </a:r>
            <a:endParaRPr lang="en-US" sz="2800" dirty="0"/>
          </a:p>
        </p:txBody>
      </p:sp>
      <p:pic>
        <p:nvPicPr>
          <p:cNvPr id="3" name="shot-28-project_1" descr="C:\Projects\KGCR_Cloud_Project_2026\presentation\screenshots\tiles\28-project_1.png">    </p:cNvPr>
          <p:cNvPicPr>
            <a:picLocks noChangeAspect="1"/>
          </p:cNvPicPr>
          <p:nvPr/>
        </p:nvPicPr>
        <p:blipFill>
          <a:blip r:embed="rId1"/>
          <a:stretch>
            <a:fillRect/>
          </a:stretch>
        </p:blipFill>
        <p:spPr>
          <a:xfrm>
            <a:off x="548640" y="1188720"/>
            <a:ext cx="9144000" cy="5143500"/>
          </a:xfrm>
          <a:prstGeom prst="rect">
            <a:avLst/>
          </a:prstGeom>
        </p:spPr>
      </p:pic>
      <p:sp>
        <p:nvSpPr>
          <p:cNvPr id="4" name="Text 1"/>
          <p:cNvSpPr txBox="1"/>
          <p:nvPr/>
        </p:nvSpPr>
        <p:spPr>
          <a:xfrm>
            <a:off x="9921240" y="1188720"/>
            <a:ext cx="1737360" cy="512064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chemeClr val="accent6"/>
                </a:solidFill>
              </a:rPr>
              <a:t>Report, survey, research gap, objectives, novelty and both diagrams.</a:t>
            </a:r>
            <a:endParaRPr lang="en-US" sz="1200" dirty="0"/>
          </a:p>
          <a:p>
            <a:pPr marL="342900" indent="-342900">
              <a:spcAft>
                <a:spcPts val="1000"/>
              </a:spcAft>
              <a:buSzPct val="100000"/>
              <a:buChar char="•"/>
            </a:pPr>
            <a:r>
              <a:rPr lang="en-US" sz="1200" dirty="0">
                <a:solidFill>
                  <a:schemeClr val="accent6"/>
                </a:solidFill>
              </a:rPr>
              <a:t>Each file is previewed in the page.</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bg1"/>
                </a:solidFill>
              </a:rPr>
              <a:t>We author the gold set in the dashboard too</a:t>
            </a:r>
            <a:endParaRPr lang="en-US" sz="2800" dirty="0"/>
          </a:p>
        </p:txBody>
      </p:sp>
      <p:pic>
        <p:nvPicPr>
          <p:cNvPr id="3" name="shot-29-gold_1" descr="C:\Projects\KGCR_Cloud_Project_2026\presentation\screenshots\tiles\29-gold_1.png">    </p:cNvPr>
          <p:cNvPicPr>
            <a:picLocks noChangeAspect="1"/>
          </p:cNvPicPr>
          <p:nvPr/>
        </p:nvPicPr>
        <p:blipFill>
          <a:blip r:embed="rId1"/>
          <a:stretch>
            <a:fillRect/>
          </a:stretch>
        </p:blipFill>
        <p:spPr>
          <a:xfrm>
            <a:off x="548640" y="1188720"/>
            <a:ext cx="9144000" cy="5143500"/>
          </a:xfrm>
          <a:prstGeom prst="rect">
            <a:avLst/>
          </a:prstGeom>
        </p:spPr>
      </p:pic>
      <p:sp>
        <p:nvSpPr>
          <p:cNvPr id="4" name="Text 1"/>
          <p:cNvSpPr txBox="1"/>
          <p:nvPr/>
        </p:nvSpPr>
        <p:spPr>
          <a:xfrm>
            <a:off x="9921240" y="1188720"/>
            <a:ext cx="1737360" cy="512064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chemeClr val="accent6"/>
                </a:solidFill>
              </a:rPr>
              <a:t>Hand-written reference configurations, compliant by construction.</a:t>
            </a:r>
            <a:endParaRPr lang="en-US" sz="1200" dirty="0"/>
          </a:p>
          <a:p>
            <a:pPr marL="342900" indent="-342900">
              <a:spcAft>
                <a:spcPts val="1000"/>
              </a:spcAft>
              <a:buSzPct val="100000"/>
              <a:buChar char="•"/>
            </a:pPr>
            <a:r>
              <a:rPr lang="en-US" sz="1200" dirty="0">
                <a:solidFill>
                  <a:schemeClr val="accent6"/>
                </a:solidFill>
              </a:rPr>
              <a:t>Entries are append-only and reviewed by someone other than the author.</a:t>
            </a:r>
            <a:endParaRPr lang="en-US" sz="1200" dirty="0"/>
          </a:p>
          <a:p>
            <a:pPr marL="342900" indent="-342900">
              <a:spcAft>
                <a:spcPts val="1000"/>
              </a:spcAft>
              <a:buSzPct val="100000"/>
              <a:buChar char="•"/>
            </a:pPr>
            <a:r>
              <a:rPr lang="en-US" sz="1200" dirty="0">
                <a:solidFill>
                  <a:schemeClr val="accent6"/>
                </a:solidFill>
              </a:rPr>
              <a:t>An AST test keeps the gold set out of training code.</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2"/>
                </a:solidFill>
              </a:rPr>
              <a:t>Live demo</a:t>
            </a:r>
            <a:endParaRPr lang="en-US" sz="3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nchor="b"/>
          <a:lstStyle/>
          <a:p>
            <a:pPr indent="0" marL="0">
              <a:buNone/>
            </a:pPr>
            <a:r>
              <a:rPr lang="en-US" sz="4000" b="1" dirty="0">
                <a:solidFill>
                  <a:schemeClr val="bg1"/>
                </a:solidFill>
              </a:rPr>
              <a:t>What we ship next</a:t>
            </a:r>
            <a:endParaRPr lang="en-US" sz="4000" dirty="0"/>
          </a:p>
        </p:txBody>
      </p:sp>
      <p:sp>
        <p:nvSpPr>
          <p:cNvPr id="3" name="Text 0"/>
          <p:cNvSpPr/>
          <p:nvPr>
            <p:ph idx="101" type="body" hasCustomPrompt="1"/>
          </p:nvPr>
        </p:nvSpPr>
        <p:spPr>
          <a:xfrm>
            <a:off x="731520" y="3657600"/>
            <a:ext cx="10698480" cy="1828800"/>
          </a:xfrm>
          <a:prstGeom prst="rect">
            <a:avLst/>
          </a:prstGeom>
          <a:noFill/>
          <a:ln/>
        </p:spPr>
        <p:txBody>
          <a:bodyPr wrap="square" rtlCol="0" anchor="t"/>
          <a:lstStyle/>
          <a:p>
            <a:pPr indent="0" marL="0">
              <a:buNone/>
            </a:pPr>
            <a:r>
              <a:rPr lang="en-US" sz="1800" dirty="0">
                <a:solidFill>
                  <a:schemeClr val="accent6"/>
                </a:solidFill>
              </a:rPr>
              <a:t>Record the model reviews for the four remaining defect variants.</a:t>
            </a:r>
            <a:endParaRPr lang="en-US" sz="1800" dirty="0"/>
          </a:p>
          <a:p>
            <a:pPr indent="0" marL="0">
              <a:buNone/>
            </a:pPr>
            <a:r>
              <a:rPr lang="en-US" sz="1800" dirty="0">
                <a:solidFill>
                  <a:schemeClr val="accent6"/>
                </a:solidFill>
              </a:rPr>
              <a:t>Verify the six controls and sign off the gold set.</a:t>
            </a:r>
            <a:endParaRPr lang="en-US" sz="1800" dirty="0"/>
          </a:p>
          <a:p>
            <a:pPr indent="0" marL="0">
              <a:buNone/>
            </a:pPr>
            <a:r>
              <a:rPr lang="en-US" sz="1800" dirty="0">
                <a:solidFill>
                  <a:schemeClr val="accent6"/>
                </a:solidFill>
              </a:rPr>
              <a:t>Run the Terraform apply and the Config harvest in a sandbox AWS account.</a:t>
            </a:r>
            <a:endParaRPr lang="en-US" sz="1800" dirty="0"/>
          </a:p>
        </p:txBody>
      </p:sp>
    </p:spTree>
  </p:cSld>
  <p:clrMapOvr>
    <a:masterClrMapping/>
  </p:clrMapOvr>
</p:sld>
</file>

<file path=ppt/theme/theme1.xml><?xml version="1.0" encoding="utf-8"?>
<a:theme xmlns:a="http://schemas.openxmlformats.org/drawingml/2006/main" name="KGCR Final">
  <a:themeElements>
    <a:clrScheme name="KGCR Final">
      <a:dk1>
        <a:srgbClr val="1B2A2F"/>
      </a:dk1>
      <a:lt1>
        <a:srgbClr val="FFFFFF"/>
      </a:lt1>
      <a:dk2>
        <a:srgbClr val="123B3A"/>
      </a:dk2>
      <a:lt2>
        <a:srgbClr val="EEF3F2"/>
      </a:lt2>
      <a:accent1>
        <a:srgbClr val="1F7A6D"/>
      </a:accent1>
      <a:accent2>
        <a:srgbClr val="C9772A"/>
      </a:accent2>
      <a:accent3>
        <a:srgbClr val="5B6B70"/>
      </a:accent3>
      <a:accent4>
        <a:srgbClr val="B23A48"/>
      </a:accent4>
      <a:accent5>
        <a:srgbClr val="7FB8AE"/>
      </a:accent5>
      <a:accent6>
        <a:srgbClr val="C9D6D3"/>
      </a:accent6>
      <a:hlink>
        <a:srgbClr val="1F7A6D"/>
      </a:hlink>
      <a:folHlink>
        <a:srgbClr val="5B6B70"/>
      </a:folHlink>
    </a:clrScheme>
    <a:fontScheme name="KGCR Fi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KGCR Final Review</dc:title>
  <dc:subject>PptxGenJS Presentation</dc:subject>
  <dc:creator>Udit Daftary, Manya, Tanmoy</dc:creator>
  <cp:lastModifiedBy>Udit Daftary, Manya, Tanmoy</cp:lastModifiedBy>
  <cp:revision>1</cp:revision>
  <dcterms:created xsi:type="dcterms:W3CDTF">2026-10-14T10:42:01Z</dcterms:created>
  <dcterms:modified xsi:type="dcterms:W3CDTF">2026-10-14T10:42:01Z</dcterms:modified>
</cp:coreProperties>
</file>